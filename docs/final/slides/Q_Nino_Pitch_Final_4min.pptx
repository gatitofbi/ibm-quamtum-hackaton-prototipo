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Sebastian | 0:00–0:30
0:00–0:30 | SEBASTIAN | EL PROBLEMA
Pantalla 1: Q-Niño + brigadas y zonas. Dato visible: estación Miraflores, Piura, 1998, 1.857,7 mm acumulados; cálculo propio sumando 365 registros diarios de SENAMHI, sin faltantes. No presentar el dato como actual ni como promedio regional. Contexto reciente en nota secundaria: ENFEN 18-2026, 16/10/2026, alerta y pronóstico.
Los registros de SENAMHI muestran la escala del reto: en mil novecientos noventa y ocho, la estación Miraflores, en Piura, acumuló más de mil ochocientos milímetros de lluvia.
Organizar la respuesta exige coordinar brigadas y destinos. Somos Quantum Action y construimos Q-Niño para comparar esas asignaciones y apoyar decisiones mejor informadas.
Fuente: https://www.senamhi.gob.pe/site/descarga-datos/descarga/?cod=000207
Total calculado por suma decimal, agrupando por la etiqueta explícita 1998. No es una media regional ni un dato de lluvia actual. ENFEN 18-2026 sirve de contexto reciente, fechado 16/10/2026; está en el paquete de fuentes.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Jefry | 0:30–1:10
0:30–1:10 | JEFRY | EL MODELO
Pantalla 2: F = interacción, D = distancia/coste, una brigada por zona.
Modelamos el despliegue como un problema de asignación cuadrática: una brigada por zona y una zona por brigada.
La matriz F representa cuánto interactúan dos equipos. La matriz D representa la separación entre sus destinos. Minimizamos la suma de esos productos, contando cada pareja una vez. Por eso, mover una brigada cambia varias relaciones a la vez.
El contexto climático se sustenta en fuentes oficiales. Las matrices de esta demo siguen siendo sintéticas; vincular lluvia, rutas y coordinación requiere calibración.
El ejemplo ilustrado usa la matriz N=4 del repositorio y p=[3,2,1,0]: F[Médica,Rescate]=9 y D[Trujillo,Lambayeque]=5. Su contribución es 45. No son horas de respuesta reales. Fuente: https://github.com/GatitoFBI/IBM-QUAMTUM-HACKATON-PROTOTIPO/blob/8d407b4b366627c1d9a8eb9fdbfc8ec4f2b80c2c/datos.js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Luis | 1:10–1:55
1:10–1:55 | LUIS | IMPLEMENTACIÓN Y COMPONENTE CUÁNTICO
Pantalla 3: candidato → oráculo → difusión → medición → nuevo umbral.
Exploramos QUBO y QAOA y después implementamos búsqueda adaptativa de Grover.
Un bucle clásico mantiene la mejor asignación encontrada. El oráculo marca las alternativas de menor coste mediante un cambio de fase; la difusión amplifica su probabilidad y la medición produce otro candidato.
Qiskit construye y simula esos circuitos. Para cuatro brigadas, las veinticuatro asignaciones se indexan con cinco qubits, frente a dieciséis variables del QUBO. Son qubits de índice: un oráculo completo necesitaría recursos adicionales. Los índices sobrantes se descartan.
Fuente: https://github.com/GatitoFBI/IBM-QUAMTUM-HACKATON-PROTOTIPO/blob/8d407b4b366627c1d9a8eb9fdbfc8ec4f2b80c2c/qiskit_grover.py
Los 5 qubits describen solo el registro de índice. 2^5=32 y 24 índices representan permutaciones; los 8 sobrantes pueden medirse. No presentar la cifra como los recursos totales de una QPU.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Luis | 1:55–2:20
1:55–2:20 | LUIS | DEMO BREVE
Pantalla 4: demo N=4 ya cargada. Señalar resultado y abrir la animación.
Aquí vemos cuatro brigadas y cuatro zonas. El resultado precalculado con Qiskit tiene coste doscientos dos, igual al óptimo exacto de esta matriz. Podemos inspeccionar la asignación, las relaciones que más pesan y las etapas del circuito.
No ejecutar N=6 en directo. No reproducir el vídeo completo. Presupuesto de interacción: unos 7 segundos, además de la locución.
Antes del pitch, abrir https://q-nino.vercel.app/#simulador y cargar N=4 con el ejemplo verificado Qiskit. Mostrar coste 202 y pasar a la animación. Si falla la conexión, esta diapositiva contiene el respaldo de la asignación registrada: [3,2,1,0]. No ejecutar N=6 en directo.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Jefry | 2:20–3:00
2:20–3:00 | JEFRY | RESULTADOS Y ESCALABILIDAD
Pantalla 5: evidencia pequeña + comparación N=10 / N&gt;=14.
En cuatro instancias sintéticas, de tres a seis brigadas, obtuvimos el óptimo en cuarenta de cuarenta ejecuciones registradas. Es evidencia acotada a esas pruebas.
[BLOQUE PENDIENTE, MÁXIMO 45 PALABRAS. Integrar: N probado, instancia y procedencia, método clásico frente al híbrido, calidad factible, tiempo total y memoria. Usar cifras reales. Si el híbrido pierde, decir en qué métrica y qué trabajo lo explica. No leer esta instrucción.]
También debemos aislar el aporte del componente cuántico.
Esta tabla reproduce datos guardados, no nuevas ejecuciones. Los resultados se comprobaron recalculando los costes de F y D. No demuestra éxito universal.
PENDIENTE: sustituir la franja inferior por los resultados reales N=10 y N&gt;=14 antes de cerrar la versión final; conservar método, calidad factible, tiempo total y memoria. Nunca sustituir la medición por una extrapolación factorial.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Fabricio + Sebastian | 3:00–3:45
3:00–3:30 | FABRICIO | APORTE Y OPORTUNIDAD
Pantalla 6: decisiones que se pueden revisar, representación compacta y oportunidad de reoptimizar. Nota breve visible: ventaja de consultas teórica; tiempo en QPU pendiente de medición.
Nuestro aporte es que cada decisión se puede revisar: qué brigada va a cada zona, qué relaciones pesan más y cómo se compara con una referencia clásica. La oportunidad es reoptimizar cuando cambien las rutas o la información disponible. La mejora de consultas de Grover es teórica; convertirla en ahorro operativo es nuestra siguiente validación.
3:30–3:45 | SEBASTIAN | CIERRE
Mantener pantalla 6; señalar la conclusión medida de N&gt;=14, una vez incorporada.
Q-Niño convierte un problema complejo en decisiones que podemos examinar. Buscamos una coordinación mejor informada cuando más importa. Somos Quantum Action. Gracias.
3:45–4:00 | MARGEN
Permanecer en la conclusión. No introducir material nuevo.
El hardware cuántico evita representar explícitamente un vector de estado clásico, pero eso no garantiza menor tiempo total. Medir oráculo, profundidad, repeticiones y procesamiento clásico. No afirmar ahorro económico demostrado. Fuente IBM: https://quantum.cloud.ibm.com/docs/en/guides/estimate-job-run-time
Fuentes y evidencia: https://github.com/GatitoFBI/IBM-QUAMTUM-HACKATON-PROTOTIPO/tree/main/docs/final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www.senamhi.gob.pe/site/descarga-datos/descarga/?cod=000207"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GatitoFBI/IBM-QUAMTUM-HACKATON-PROTOTIPO/blob/8d407b4b366627c1d9a8eb9fdbfc8ec4f2b80c2c/qiskit_grover.py"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GatitoFBI/IBM-QUAMTUM-HACKATON-PROTOTIPO/blob/8d407b4b366627c1d9a8eb9fdbfc8ec4f2b80c2c/qiskit_grover.py"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github.com/GatitoFBI/IBM-QUAMTUM-HACKATON-PROTOTIPO/blob/8d407b4b366627c1d9a8eb9fdbfc8ec4f2b80c2c/datos.js" TargetMode="External"/><Relationship Id="rId2" Type="http://schemas.openxmlformats.org/officeDocument/2006/relationships/hyperlink" Target="https://q-nino.vercel.app/#simulador" TargetMode="External"/><Relationship Id="rId3" Type="http://schemas.openxmlformats.org/officeDocument/2006/relationships/hyperlink" Target="https://q-nino.vercel.app/#simulador"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GatitoFBI/IBM-QUAMTUM-HACKATON-PROTOTIPO/blob/8d407b4b366627c1d9a8eb9fdbfc8ec4f2b80c2c/datos.js"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quantum.cloud.ibm.com/docs/en/guides/estimate-job-run-time"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7163F"/>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63F"/>
          </a:solidFill>
          <a:ln w="12700">
            <a:solidFill>
              <a:srgbClr val="27163F">
                <a:alpha val="0"/>
              </a:srgbClr>
            </a:solidFill>
            <a:prstDash val="solid"/>
          </a:ln>
        </p:spPr>
      </p:sp>
      <p:sp>
        <p:nvSpPr>
          <p:cNvPr id="3" name="Text 1"/>
          <p:cNvSpPr/>
          <p:nvPr/>
        </p:nvSpPr>
        <p:spPr>
          <a:xfrm>
            <a:off x="731520" y="393192"/>
            <a:ext cx="1920240" cy="317480"/>
          </a:xfrm>
          <a:prstGeom prst="rect">
            <a:avLst/>
          </a:prstGeom>
          <a:noFill/>
          <a:ln/>
        </p:spPr>
        <p:txBody>
          <a:bodyPr wrap="none" lIns="0" tIns="0" rIns="0" bIns="0" rtlCol="0" anchor="t"/>
          <a:lstStyle/>
          <a:p>
            <a:pPr algn="l" indent="0" marL="0">
              <a:buNone/>
            </a:pPr>
            <a:r>
              <a:rPr lang="es-PE" altLang="en-US" sz="2016" b="1" dirty="0">
                <a:solidFill>
                  <a:srgbClr val="F8F4ED"/>
                </a:solidFill>
                <a:latin typeface="Arial" pitchFamily="34" charset="0"/>
                <a:ea typeface="Arial" pitchFamily="34" charset="-122"/>
                <a:cs typeface="Arial" pitchFamily="34" charset="-120"/>
              </a:rPr>
              <a:t>Q-Niño</a:t>
            </a:r>
            <a:endParaRPr lang="es-PE" sz="2016" dirty="0"/>
          </a:p>
        </p:txBody>
      </p:sp>
      <p:sp>
        <p:nvSpPr>
          <p:cNvPr id="4" name="Text 2"/>
          <p:cNvSpPr/>
          <p:nvPr/>
        </p:nvSpPr>
        <p:spPr>
          <a:xfrm>
            <a:off x="2651760" y="448056"/>
            <a:ext cx="3108960" cy="215433"/>
          </a:xfrm>
          <a:prstGeom prst="rect">
            <a:avLst/>
          </a:prstGeom>
          <a:noFill/>
          <a:ln/>
        </p:spPr>
        <p:txBody>
          <a:bodyPr wrap="none" lIns="0" tIns="0" rIns="0" bIns="0" rtlCol="0" anchor="t"/>
          <a:lstStyle/>
          <a:p>
            <a:pPr algn="l" indent="0" marL="0">
              <a:buNone/>
            </a:pPr>
            <a:r>
              <a:rPr lang="es-PE" altLang="en-US" sz="1368" b="1" dirty="0">
                <a:solidFill>
                  <a:srgbClr val="D8C9F1"/>
                </a:solidFill>
                <a:latin typeface="Arial" pitchFamily="34" charset="0"/>
                <a:ea typeface="Arial" pitchFamily="34" charset="-122"/>
                <a:cs typeface="Arial" pitchFamily="34" charset="-120"/>
              </a:rPr>
              <a:t>QUANTUM ACTION</a:t>
            </a:r>
            <a:endParaRPr lang="es-PE" sz="1368" dirty="0"/>
          </a:p>
        </p:txBody>
      </p:sp>
      <p:sp>
        <p:nvSpPr>
          <p:cNvPr id="5" name="Text 3"/>
          <p:cNvSpPr/>
          <p:nvPr/>
        </p:nvSpPr>
        <p:spPr>
          <a:xfrm>
            <a:off x="9829800" y="448056"/>
            <a:ext cx="4069080" cy="215433"/>
          </a:xfrm>
          <a:prstGeom prst="rect">
            <a:avLst/>
          </a:prstGeom>
          <a:noFill/>
          <a:ln/>
        </p:spPr>
        <p:txBody>
          <a:bodyPr wrap="none" lIns="0" tIns="0" rIns="0" bIns="0" rtlCol="0" anchor="t"/>
          <a:lstStyle/>
          <a:p>
            <a:pPr algn="r" indent="0" marL="0">
              <a:buNone/>
            </a:pPr>
            <a:r>
              <a:rPr lang="es-PE" altLang="en-US" sz="1368" dirty="0">
                <a:solidFill>
                  <a:srgbClr val="D8C9F1"/>
                </a:solidFill>
                <a:latin typeface="Arial" pitchFamily="34" charset="0"/>
                <a:ea typeface="Arial" pitchFamily="34" charset="-122"/>
                <a:cs typeface="Arial" pitchFamily="34" charset="-120"/>
              </a:rPr>
              <a:t>QISKIT FALL FEST 2026 · FINAL</a:t>
            </a:r>
            <a:endParaRPr lang="es-PE" sz="1368" dirty="0"/>
          </a:p>
        </p:txBody>
      </p:sp>
      <p:sp>
        <p:nvSpPr>
          <p:cNvPr id="6" name="Shape 4"/>
          <p:cNvSpPr/>
          <p:nvPr/>
        </p:nvSpPr>
        <p:spPr>
          <a:xfrm>
            <a:off x="731520" y="905256"/>
            <a:ext cx="13167360" cy="0"/>
          </a:xfrm>
          <a:prstGeom prst="line">
            <a:avLst/>
          </a:prstGeom>
          <a:noFill/>
          <a:ln w="13716">
            <a:solidFill>
              <a:srgbClr val="544366"/>
            </a:solidFill>
            <a:prstDash val="solid"/>
          </a:ln>
        </p:spPr>
      </p:sp>
      <p:sp>
        <p:nvSpPr>
          <p:cNvPr id="7" name="Shape 5"/>
          <p:cNvSpPr/>
          <p:nvPr/>
        </p:nvSpPr>
        <p:spPr>
          <a:xfrm>
            <a:off x="731520" y="7470648"/>
            <a:ext cx="13167360" cy="0"/>
          </a:xfrm>
          <a:prstGeom prst="line">
            <a:avLst/>
          </a:prstGeom>
          <a:noFill/>
          <a:ln w="13716">
            <a:solidFill>
              <a:srgbClr val="544366"/>
            </a:solidFill>
            <a:prstDash val="solid"/>
          </a:ln>
        </p:spPr>
      </p:sp>
      <p:sp>
        <p:nvSpPr>
          <p:cNvPr id="8" name="Text 6">
            <a:hlinkClick r:id="rId1" tooltip=""/>
          </p:cNvPr>
          <p:cNvSpPr/>
          <p:nvPr/>
        </p:nvSpPr>
        <p:spPr>
          <a:xfrm>
            <a:off x="731520" y="7662672"/>
            <a:ext cx="12070080" cy="192756"/>
          </a:xfrm>
          <a:prstGeom prst="rect">
            <a:avLst/>
          </a:prstGeom>
          <a:noFill/>
          <a:ln/>
        </p:spPr>
        <p:txBody>
          <a:bodyPr wrap="none" lIns="0" tIns="0" rIns="0" bIns="0" rtlCol="0" anchor="t"/>
          <a:lstStyle/>
          <a:p>
            <a:pPr algn="l" indent="0" marL="0">
              <a:buNone/>
            </a:pPr>
            <a:r>
              <a:rPr lang="es-PE" altLang="en-US" sz="1224" u="sng" dirty="0">
                <a:solidFill>
                  <a:srgbClr val="D8C9F1"/>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SENAMHI · estación Miraflores (000207), Piura · 1998 · suma propia de 365 registros diarios.</a:t>
            </a:r>
            <a:endParaRPr lang="es-PE" sz="1224" dirty="0"/>
          </a:p>
        </p:txBody>
      </p:sp>
      <p:sp>
        <p:nvSpPr>
          <p:cNvPr id="9" name="Text 7"/>
          <p:cNvSpPr/>
          <p:nvPr/>
        </p:nvSpPr>
        <p:spPr>
          <a:xfrm>
            <a:off x="12893040" y="7662672"/>
            <a:ext cx="1005840" cy="192756"/>
          </a:xfrm>
          <a:prstGeom prst="rect">
            <a:avLst/>
          </a:prstGeom>
          <a:noFill/>
          <a:ln/>
        </p:spPr>
        <p:txBody>
          <a:bodyPr wrap="none" lIns="0" tIns="0" rIns="0" bIns="0" rtlCol="0" anchor="t"/>
          <a:lstStyle/>
          <a:p>
            <a:pPr algn="r" indent="0" marL="0">
              <a:buNone/>
            </a:pPr>
            <a:r>
              <a:rPr lang="es-PE" altLang="en-US" sz="1224" b="1" dirty="0">
                <a:solidFill>
                  <a:srgbClr val="D8C9F1"/>
                </a:solidFill>
                <a:latin typeface="Arial" pitchFamily="34" charset="0"/>
                <a:ea typeface="Arial" pitchFamily="34" charset="-122"/>
                <a:cs typeface="Arial" pitchFamily="34" charset="-120"/>
              </a:rPr>
              <a:t>01 / 06</a:t>
            </a:r>
            <a:endParaRPr lang="es-PE" sz="1224" dirty="0"/>
          </a:p>
        </p:txBody>
      </p:sp>
      <p:sp>
        <p:nvSpPr>
          <p:cNvPr id="10" name="Text 8"/>
          <p:cNvSpPr/>
          <p:nvPr/>
        </p:nvSpPr>
        <p:spPr>
          <a:xfrm>
            <a:off x="713232" y="1426464"/>
            <a:ext cx="7315200" cy="1269919"/>
          </a:xfrm>
          <a:prstGeom prst="rect">
            <a:avLst/>
          </a:prstGeom>
          <a:noFill/>
          <a:ln/>
        </p:spPr>
        <p:txBody>
          <a:bodyPr wrap="none" lIns="0" tIns="0" rIns="0" bIns="0" rtlCol="0" anchor="t"/>
          <a:lstStyle/>
          <a:p>
            <a:pPr algn="l" indent="0" marL="0">
              <a:buNone/>
            </a:pPr>
            <a:r>
              <a:rPr lang="es-PE" altLang="en-US" sz="8064" b="1" dirty="0">
                <a:solidFill>
                  <a:srgbClr val="F8F4ED"/>
                </a:solidFill>
                <a:latin typeface="Arial" pitchFamily="34" charset="0"/>
                <a:ea typeface="Arial" pitchFamily="34" charset="-122"/>
                <a:cs typeface="Arial" pitchFamily="34" charset="-120"/>
              </a:rPr>
              <a:t>Q-Niño</a:t>
            </a:r>
            <a:endParaRPr lang="es-PE" sz="8064" dirty="0"/>
          </a:p>
        </p:txBody>
      </p:sp>
      <p:sp>
        <p:nvSpPr>
          <p:cNvPr id="11" name="Text 9"/>
          <p:cNvSpPr/>
          <p:nvPr/>
        </p:nvSpPr>
        <p:spPr>
          <a:xfrm>
            <a:off x="758952" y="2807208"/>
            <a:ext cx="7406640" cy="657636"/>
          </a:xfrm>
          <a:prstGeom prst="rect">
            <a:avLst/>
          </a:prstGeom>
          <a:noFill/>
          <a:ln/>
        </p:spPr>
        <p:txBody>
          <a:bodyPr wrap="none" lIns="0" tIns="0" rIns="0" bIns="0" rtlCol="0" anchor="t"/>
          <a:lstStyle/>
          <a:p>
            <a:pPr algn="l" indent="0" marL="0">
              <a:buNone/>
            </a:pPr>
            <a:r>
              <a:rPr lang="es-PE" altLang="en-US" sz="4176" b="1" dirty="0">
                <a:solidFill>
                  <a:srgbClr val="F8F4ED"/>
                </a:solidFill>
                <a:latin typeface="Arial" pitchFamily="34" charset="0"/>
                <a:ea typeface="Arial" pitchFamily="34" charset="-122"/>
                <a:cs typeface="Arial" pitchFamily="34" charset="-120"/>
              </a:rPr>
              <a:t>Coordinar brigadas</a:t>
            </a:r>
            <a:endParaRPr lang="es-PE" sz="4176" dirty="0"/>
          </a:p>
        </p:txBody>
      </p:sp>
      <p:sp>
        <p:nvSpPr>
          <p:cNvPr id="12" name="Text 10"/>
          <p:cNvSpPr/>
          <p:nvPr/>
        </p:nvSpPr>
        <p:spPr>
          <a:xfrm>
            <a:off x="758952" y="3406506"/>
            <a:ext cx="7406640" cy="657636"/>
          </a:xfrm>
          <a:prstGeom prst="rect">
            <a:avLst/>
          </a:prstGeom>
          <a:noFill/>
          <a:ln/>
        </p:spPr>
        <p:txBody>
          <a:bodyPr wrap="none" lIns="0" tIns="0" rIns="0" bIns="0" rtlCol="0" anchor="t"/>
          <a:lstStyle/>
          <a:p>
            <a:pPr algn="l" indent="0" marL="0">
              <a:buNone/>
            </a:pPr>
            <a:r>
              <a:rPr lang="es-PE" altLang="en-US" sz="4176" b="1" dirty="0">
                <a:solidFill>
                  <a:srgbClr val="F8F4ED"/>
                </a:solidFill>
                <a:latin typeface="Arial" pitchFamily="34" charset="0"/>
                <a:ea typeface="Arial" pitchFamily="34" charset="-122"/>
                <a:cs typeface="Arial" pitchFamily="34" charset="-120"/>
              </a:rPr>
              <a:t>cuando más importa.</a:t>
            </a:r>
            <a:endParaRPr lang="es-PE" sz="4176" dirty="0"/>
          </a:p>
        </p:txBody>
      </p:sp>
      <p:sp>
        <p:nvSpPr>
          <p:cNvPr id="13" name="Text 11"/>
          <p:cNvSpPr/>
          <p:nvPr/>
        </p:nvSpPr>
        <p:spPr>
          <a:xfrm>
            <a:off x="786384" y="4325112"/>
            <a:ext cx="6766560" cy="351495"/>
          </a:xfrm>
          <a:prstGeom prst="rect">
            <a:avLst/>
          </a:prstGeom>
          <a:noFill/>
          <a:ln/>
        </p:spPr>
        <p:txBody>
          <a:bodyPr wrap="none" lIns="0" tIns="0" rIns="0" bIns="0" rtlCol="0" anchor="t"/>
          <a:lstStyle/>
          <a:p>
            <a:pPr algn="l" indent="0" marL="0">
              <a:buNone/>
            </a:pPr>
            <a:r>
              <a:rPr lang="es-PE" altLang="en-US" sz="2232" dirty="0">
                <a:solidFill>
                  <a:srgbClr val="D8C9F1"/>
                </a:solidFill>
                <a:latin typeface="Arial" pitchFamily="34" charset="0"/>
                <a:ea typeface="Arial" pitchFamily="34" charset="-122"/>
                <a:cs typeface="Arial" pitchFamily="34" charset="-120"/>
              </a:rPr>
              <a:t>Logística humanitaria frente</a:t>
            </a:r>
            <a:endParaRPr lang="es-PE" sz="2232" dirty="0"/>
          </a:p>
        </p:txBody>
      </p:sp>
      <p:sp>
        <p:nvSpPr>
          <p:cNvPr id="14" name="Text 12"/>
          <p:cNvSpPr/>
          <p:nvPr/>
        </p:nvSpPr>
        <p:spPr>
          <a:xfrm>
            <a:off x="786384" y="4679442"/>
            <a:ext cx="6766560" cy="351495"/>
          </a:xfrm>
          <a:prstGeom prst="rect">
            <a:avLst/>
          </a:prstGeom>
          <a:noFill/>
          <a:ln/>
        </p:spPr>
        <p:txBody>
          <a:bodyPr wrap="none" lIns="0" tIns="0" rIns="0" bIns="0" rtlCol="0" anchor="t"/>
          <a:lstStyle/>
          <a:p>
            <a:pPr algn="l" indent="0" marL="0">
              <a:buNone/>
            </a:pPr>
            <a:r>
              <a:rPr lang="es-PE" altLang="en-US" sz="2232" dirty="0">
                <a:solidFill>
                  <a:srgbClr val="D8C9F1"/>
                </a:solidFill>
                <a:latin typeface="Arial" pitchFamily="34" charset="0"/>
                <a:ea typeface="Arial" pitchFamily="34" charset="-122"/>
                <a:cs typeface="Arial" pitchFamily="34" charset="-120"/>
              </a:rPr>
              <a:t>al Fenómeno de El Niño.</a:t>
            </a:r>
            <a:endParaRPr lang="es-PE" sz="2232" dirty="0"/>
          </a:p>
        </p:txBody>
      </p:sp>
      <p:sp>
        <p:nvSpPr>
          <p:cNvPr id="15" name="Shape 13"/>
          <p:cNvSpPr/>
          <p:nvPr/>
        </p:nvSpPr>
        <p:spPr>
          <a:xfrm>
            <a:off x="987552" y="6071616"/>
            <a:ext cx="2752344" cy="0"/>
          </a:xfrm>
          <a:prstGeom prst="line">
            <a:avLst/>
          </a:prstGeom>
          <a:noFill/>
          <a:ln w="27432">
            <a:solidFill>
              <a:srgbClr val="D8C9F1"/>
            </a:solidFill>
            <a:prstDash val="solid"/>
          </a:ln>
        </p:spPr>
      </p:sp>
      <p:sp>
        <p:nvSpPr>
          <p:cNvPr id="16" name="Shape 14"/>
          <p:cNvSpPr/>
          <p:nvPr/>
        </p:nvSpPr>
        <p:spPr>
          <a:xfrm flipV="1">
            <a:off x="3739896" y="5623560"/>
            <a:ext cx="2532888" cy="448056"/>
          </a:xfrm>
          <a:prstGeom prst="line">
            <a:avLst/>
          </a:prstGeom>
          <a:noFill/>
          <a:ln w="27432">
            <a:solidFill>
              <a:srgbClr val="D8C9F1"/>
            </a:solidFill>
            <a:prstDash val="solid"/>
          </a:ln>
        </p:spPr>
      </p:sp>
      <p:sp>
        <p:nvSpPr>
          <p:cNvPr id="17" name="Shape 15"/>
          <p:cNvSpPr/>
          <p:nvPr/>
        </p:nvSpPr>
        <p:spPr>
          <a:xfrm>
            <a:off x="3739896" y="6071616"/>
            <a:ext cx="2532888" cy="429768"/>
          </a:xfrm>
          <a:prstGeom prst="line">
            <a:avLst/>
          </a:prstGeom>
          <a:noFill/>
          <a:ln w="27432">
            <a:solidFill>
              <a:srgbClr val="D8C9F1"/>
            </a:solidFill>
            <a:prstDash val="solid"/>
          </a:ln>
        </p:spPr>
      </p:sp>
      <p:sp>
        <p:nvSpPr>
          <p:cNvPr id="18" name="Shape 16"/>
          <p:cNvSpPr/>
          <p:nvPr/>
        </p:nvSpPr>
        <p:spPr>
          <a:xfrm>
            <a:off x="850392" y="5934456"/>
            <a:ext cx="274320" cy="274320"/>
          </a:xfrm>
          <a:prstGeom prst="ellipse">
            <a:avLst/>
          </a:prstGeom>
          <a:solidFill>
            <a:srgbClr val="BEEAD9"/>
          </a:solidFill>
          <a:ln w="12700">
            <a:solidFill>
              <a:srgbClr val="BEEAD9">
                <a:alpha val="0"/>
              </a:srgbClr>
            </a:solidFill>
            <a:prstDash val="solid"/>
          </a:ln>
        </p:spPr>
      </p:sp>
      <p:sp>
        <p:nvSpPr>
          <p:cNvPr id="19" name="Shape 17"/>
          <p:cNvSpPr/>
          <p:nvPr/>
        </p:nvSpPr>
        <p:spPr>
          <a:xfrm>
            <a:off x="3602736" y="5934456"/>
            <a:ext cx="274320" cy="274320"/>
          </a:xfrm>
          <a:prstGeom prst="ellipse">
            <a:avLst/>
          </a:prstGeom>
          <a:solidFill>
            <a:srgbClr val="BEEAD9"/>
          </a:solidFill>
          <a:ln w="12700">
            <a:solidFill>
              <a:srgbClr val="BEEAD9">
                <a:alpha val="0"/>
              </a:srgbClr>
            </a:solidFill>
            <a:prstDash val="solid"/>
          </a:ln>
        </p:spPr>
      </p:sp>
      <p:sp>
        <p:nvSpPr>
          <p:cNvPr id="20" name="Shape 18"/>
          <p:cNvSpPr/>
          <p:nvPr/>
        </p:nvSpPr>
        <p:spPr>
          <a:xfrm>
            <a:off x="6135624" y="5486400"/>
            <a:ext cx="274320" cy="274320"/>
          </a:xfrm>
          <a:prstGeom prst="ellipse">
            <a:avLst/>
          </a:prstGeom>
          <a:solidFill>
            <a:srgbClr val="EDA18D"/>
          </a:solidFill>
          <a:ln w="12700">
            <a:solidFill>
              <a:srgbClr val="EDA18D">
                <a:alpha val="0"/>
              </a:srgbClr>
            </a:solidFill>
            <a:prstDash val="solid"/>
          </a:ln>
        </p:spPr>
      </p:sp>
      <p:sp>
        <p:nvSpPr>
          <p:cNvPr id="21" name="Shape 19"/>
          <p:cNvSpPr/>
          <p:nvPr/>
        </p:nvSpPr>
        <p:spPr>
          <a:xfrm>
            <a:off x="6135624" y="6364224"/>
            <a:ext cx="274320" cy="274320"/>
          </a:xfrm>
          <a:prstGeom prst="ellipse">
            <a:avLst/>
          </a:prstGeom>
          <a:solidFill>
            <a:srgbClr val="EDA18D"/>
          </a:solidFill>
          <a:ln w="12700">
            <a:solidFill>
              <a:srgbClr val="EDA18D">
                <a:alpha val="0"/>
              </a:srgbClr>
            </a:solidFill>
            <a:prstDash val="solid"/>
          </a:ln>
        </p:spPr>
      </p:sp>
      <p:sp>
        <p:nvSpPr>
          <p:cNvPr id="22" name="Text 20"/>
          <p:cNvSpPr/>
          <p:nvPr/>
        </p:nvSpPr>
        <p:spPr>
          <a:xfrm>
            <a:off x="758952" y="6473952"/>
            <a:ext cx="1828800" cy="260787"/>
          </a:xfrm>
          <a:prstGeom prst="rect">
            <a:avLst/>
          </a:prstGeom>
          <a:noFill/>
          <a:ln/>
        </p:spPr>
        <p:txBody>
          <a:bodyPr wrap="none" lIns="0" tIns="0" rIns="0" bIns="0" rtlCol="0" anchor="t"/>
          <a:lstStyle/>
          <a:p>
            <a:pPr algn="l" indent="0" marL="0">
              <a:buNone/>
            </a:pPr>
            <a:r>
              <a:rPr lang="es-PE" altLang="en-US" sz="1656" dirty="0">
                <a:solidFill>
                  <a:srgbClr val="F8F4ED"/>
                </a:solidFill>
                <a:latin typeface="Arial" pitchFamily="34" charset="0"/>
                <a:ea typeface="Arial" pitchFamily="34" charset="-122"/>
                <a:cs typeface="Arial" pitchFamily="34" charset="-120"/>
              </a:rPr>
              <a:t>Brigadas</a:t>
            </a:r>
            <a:endParaRPr lang="es-PE" sz="1656" dirty="0"/>
          </a:p>
        </p:txBody>
      </p:sp>
      <p:sp>
        <p:nvSpPr>
          <p:cNvPr id="23" name="Text 21"/>
          <p:cNvSpPr/>
          <p:nvPr/>
        </p:nvSpPr>
        <p:spPr>
          <a:xfrm>
            <a:off x="5907024" y="6858000"/>
            <a:ext cx="1737360" cy="260787"/>
          </a:xfrm>
          <a:prstGeom prst="rect">
            <a:avLst/>
          </a:prstGeom>
          <a:noFill/>
          <a:ln/>
        </p:spPr>
        <p:txBody>
          <a:bodyPr wrap="none" lIns="0" tIns="0" rIns="0" bIns="0" rtlCol="0" anchor="t"/>
          <a:lstStyle/>
          <a:p>
            <a:pPr algn="l" indent="0" marL="0">
              <a:buNone/>
            </a:pPr>
            <a:r>
              <a:rPr lang="es-PE" altLang="en-US" sz="1656" dirty="0">
                <a:solidFill>
                  <a:srgbClr val="F8F4ED"/>
                </a:solidFill>
                <a:latin typeface="Arial" pitchFamily="34" charset="0"/>
                <a:ea typeface="Arial" pitchFamily="34" charset="-122"/>
                <a:cs typeface="Arial" pitchFamily="34" charset="-120"/>
              </a:rPr>
              <a:t>Destinos</a:t>
            </a:r>
            <a:endParaRPr lang="es-PE" sz="1656" dirty="0"/>
          </a:p>
        </p:txBody>
      </p:sp>
      <p:sp>
        <p:nvSpPr>
          <p:cNvPr id="24" name="Shape 22"/>
          <p:cNvSpPr/>
          <p:nvPr/>
        </p:nvSpPr>
        <p:spPr>
          <a:xfrm>
            <a:off x="8714232" y="1581912"/>
            <a:ext cx="5148072" cy="5065776"/>
          </a:xfrm>
          <a:prstGeom prst="rect">
            <a:avLst/>
          </a:prstGeom>
          <a:solidFill>
            <a:srgbClr val="140D24"/>
          </a:solidFill>
          <a:ln w="12700">
            <a:solidFill>
              <a:srgbClr val="140D24">
                <a:alpha val="0"/>
              </a:srgbClr>
            </a:solidFill>
            <a:prstDash val="solid"/>
          </a:ln>
        </p:spPr>
      </p:sp>
      <p:sp>
        <p:nvSpPr>
          <p:cNvPr id="25" name="Shape 23"/>
          <p:cNvSpPr/>
          <p:nvPr/>
        </p:nvSpPr>
        <p:spPr>
          <a:xfrm>
            <a:off x="8595360" y="1463040"/>
            <a:ext cx="5148072" cy="5065776"/>
          </a:xfrm>
          <a:prstGeom prst="rect">
            <a:avLst/>
          </a:prstGeom>
          <a:solidFill>
            <a:srgbClr val="F8F4ED"/>
          </a:solidFill>
          <a:ln w="12700">
            <a:solidFill>
              <a:srgbClr val="F8F4ED">
                <a:alpha val="0"/>
              </a:srgbClr>
            </a:solidFill>
            <a:prstDash val="solid"/>
          </a:ln>
        </p:spPr>
      </p:sp>
      <p:sp>
        <p:nvSpPr>
          <p:cNvPr id="26" name="Shape 24"/>
          <p:cNvSpPr/>
          <p:nvPr/>
        </p:nvSpPr>
        <p:spPr>
          <a:xfrm>
            <a:off x="8595360" y="1463040"/>
            <a:ext cx="73152" cy="5065776"/>
          </a:xfrm>
          <a:prstGeom prst="rect">
            <a:avLst/>
          </a:prstGeom>
          <a:solidFill>
            <a:srgbClr val="BEEAD9"/>
          </a:solidFill>
          <a:ln w="12700">
            <a:solidFill>
              <a:srgbClr val="BEEAD9">
                <a:alpha val="0"/>
              </a:srgbClr>
            </a:solidFill>
            <a:prstDash val="solid"/>
          </a:ln>
        </p:spPr>
      </p:sp>
      <p:sp>
        <p:nvSpPr>
          <p:cNvPr id="27" name="Text 25"/>
          <p:cNvSpPr/>
          <p:nvPr/>
        </p:nvSpPr>
        <p:spPr>
          <a:xfrm>
            <a:off x="8997696" y="1837944"/>
            <a:ext cx="4297680" cy="215433"/>
          </a:xfrm>
          <a:prstGeom prst="rect">
            <a:avLst/>
          </a:prstGeom>
          <a:noFill/>
          <a:ln/>
        </p:spPr>
        <p:txBody>
          <a:bodyPr wrap="none" lIns="0" tIns="0" rIns="0" bIns="0" rtlCol="0" anchor="t"/>
          <a:lstStyle/>
          <a:p>
            <a:pPr algn="l" indent="0" marL="0">
              <a:buNone/>
            </a:pPr>
            <a:r>
              <a:rPr lang="es-PE" altLang="en-US" sz="1368" b="1" dirty="0">
                <a:solidFill>
                  <a:srgbClr val="6948AD"/>
                </a:solidFill>
                <a:latin typeface="Arial" pitchFamily="34" charset="0"/>
                <a:ea typeface="Arial" pitchFamily="34" charset="-122"/>
                <a:cs typeface="Arial" pitchFamily="34" charset="-120"/>
              </a:rPr>
              <a:t>UN REGISTRO DEL RETO</a:t>
            </a:r>
            <a:endParaRPr lang="es-PE" sz="1368" dirty="0"/>
          </a:p>
        </p:txBody>
      </p:sp>
      <p:sp>
        <p:nvSpPr>
          <p:cNvPr id="28" name="Text 26"/>
          <p:cNvSpPr/>
          <p:nvPr/>
        </p:nvSpPr>
        <p:spPr>
          <a:xfrm>
            <a:off x="8997696" y="2276856"/>
            <a:ext cx="4297680" cy="396850"/>
          </a:xfrm>
          <a:prstGeom prst="rect">
            <a:avLst/>
          </a:prstGeom>
          <a:noFill/>
          <a:ln/>
        </p:spPr>
        <p:txBody>
          <a:bodyPr wrap="none" lIns="0" tIns="0" rIns="0" bIns="0" rtlCol="0" anchor="t"/>
          <a:lstStyle/>
          <a:p>
            <a:pPr algn="l" indent="0" marL="0">
              <a:buNone/>
            </a:pPr>
            <a:r>
              <a:rPr lang="es-PE" altLang="en-US" sz="2520" b="1" dirty="0">
                <a:solidFill>
                  <a:srgbClr val="27163F"/>
                </a:solidFill>
                <a:latin typeface="Arial" pitchFamily="34" charset="0"/>
                <a:ea typeface="Arial" pitchFamily="34" charset="-122"/>
                <a:cs typeface="Arial" pitchFamily="34" charset="-120"/>
              </a:rPr>
              <a:t>Miraflores, Piura</a:t>
            </a:r>
            <a:endParaRPr lang="es-PE" sz="2520" dirty="0"/>
          </a:p>
        </p:txBody>
      </p:sp>
      <p:sp>
        <p:nvSpPr>
          <p:cNvPr id="29" name="Text 27"/>
          <p:cNvSpPr/>
          <p:nvPr/>
        </p:nvSpPr>
        <p:spPr>
          <a:xfrm>
            <a:off x="8933688" y="3026664"/>
            <a:ext cx="4526280" cy="1213226"/>
          </a:xfrm>
          <a:prstGeom prst="rect">
            <a:avLst/>
          </a:prstGeom>
          <a:noFill/>
          <a:ln/>
        </p:spPr>
        <p:txBody>
          <a:bodyPr wrap="none" lIns="0" tIns="0" rIns="0" bIns="0" rtlCol="0" anchor="t"/>
          <a:lstStyle/>
          <a:p>
            <a:pPr algn="l" indent="0" marL="0">
              <a:buNone/>
            </a:pPr>
            <a:r>
              <a:rPr lang="es-PE" altLang="en-US" sz="7704" b="1" dirty="0">
                <a:solidFill>
                  <a:srgbClr val="27163F"/>
                </a:solidFill>
                <a:latin typeface="Arial" pitchFamily="34" charset="0"/>
                <a:ea typeface="Arial" pitchFamily="34" charset="-122"/>
                <a:cs typeface="Arial" pitchFamily="34" charset="-120"/>
              </a:rPr>
              <a:t>1.857,7</a:t>
            </a:r>
            <a:endParaRPr lang="es-PE" sz="7704" dirty="0"/>
          </a:p>
        </p:txBody>
      </p:sp>
      <p:sp>
        <p:nvSpPr>
          <p:cNvPr id="30" name="Text 28"/>
          <p:cNvSpPr/>
          <p:nvPr/>
        </p:nvSpPr>
        <p:spPr>
          <a:xfrm>
            <a:off x="9015984" y="4233672"/>
            <a:ext cx="4206240" cy="328818"/>
          </a:xfrm>
          <a:prstGeom prst="rect">
            <a:avLst/>
          </a:prstGeom>
          <a:noFill/>
          <a:ln/>
        </p:spPr>
        <p:txBody>
          <a:bodyPr wrap="none" lIns="0" tIns="0" rIns="0" bIns="0" rtlCol="0" anchor="t"/>
          <a:lstStyle/>
          <a:p>
            <a:pPr algn="l" indent="0" marL="0">
              <a:buNone/>
            </a:pPr>
            <a:r>
              <a:rPr lang="es-PE" altLang="en-US" sz="2088" dirty="0">
                <a:solidFill>
                  <a:srgbClr val="27163F"/>
                </a:solidFill>
                <a:latin typeface="Arial" pitchFamily="34" charset="0"/>
                <a:ea typeface="Arial" pitchFamily="34" charset="-122"/>
                <a:cs typeface="Arial" pitchFamily="34" charset="-120"/>
              </a:rPr>
              <a:t>mm acumulados en 1998</a:t>
            </a:r>
            <a:endParaRPr lang="es-PE" sz="2088" dirty="0"/>
          </a:p>
        </p:txBody>
      </p:sp>
      <p:sp>
        <p:nvSpPr>
          <p:cNvPr id="31" name="Shape 29"/>
          <p:cNvSpPr/>
          <p:nvPr/>
        </p:nvSpPr>
        <p:spPr>
          <a:xfrm>
            <a:off x="8997696" y="4828032"/>
            <a:ext cx="4334256" cy="0"/>
          </a:xfrm>
          <a:prstGeom prst="line">
            <a:avLst/>
          </a:prstGeom>
          <a:noFill/>
          <a:ln w="18288">
            <a:solidFill>
              <a:srgbClr val="DCD3E3"/>
            </a:solidFill>
            <a:prstDash val="solid"/>
          </a:ln>
        </p:spPr>
      </p:sp>
      <p:sp>
        <p:nvSpPr>
          <p:cNvPr id="32" name="Text 30"/>
          <p:cNvSpPr/>
          <p:nvPr/>
        </p:nvSpPr>
        <p:spPr>
          <a:xfrm>
            <a:off x="9006840" y="5102352"/>
            <a:ext cx="4297680" cy="294803"/>
          </a:xfrm>
          <a:prstGeom prst="rect">
            <a:avLst/>
          </a:prstGeom>
          <a:noFill/>
          <a:ln/>
        </p:spPr>
        <p:txBody>
          <a:bodyPr wrap="none" lIns="0" tIns="0" rIns="0" bIns="0" rtlCol="0" anchor="t"/>
          <a:lstStyle/>
          <a:p>
            <a:pPr algn="l" indent="0" marL="0">
              <a:buNone/>
            </a:pPr>
            <a:r>
              <a:rPr lang="es-PE" altLang="en-US" sz="1872" b="1" dirty="0">
                <a:solidFill>
                  <a:srgbClr val="27163F"/>
                </a:solidFill>
                <a:latin typeface="Arial" pitchFamily="34" charset="0"/>
                <a:ea typeface="Arial" pitchFamily="34" charset="-122"/>
                <a:cs typeface="Arial" pitchFamily="34" charset="-120"/>
              </a:rPr>
              <a:t>365 registros · sin faltantes</a:t>
            </a:r>
            <a:endParaRPr lang="es-PE" sz="1872" dirty="0"/>
          </a:p>
        </p:txBody>
      </p:sp>
      <p:sp>
        <p:nvSpPr>
          <p:cNvPr id="33" name="Text 31"/>
          <p:cNvSpPr/>
          <p:nvPr/>
        </p:nvSpPr>
        <p:spPr>
          <a:xfrm>
            <a:off x="9006840" y="5586984"/>
            <a:ext cx="4297680" cy="249448"/>
          </a:xfrm>
          <a:prstGeom prst="rect">
            <a:avLst/>
          </a:prstGeom>
          <a:noFill/>
          <a:ln/>
        </p:spPr>
        <p:txBody>
          <a:bodyPr wrap="none" lIns="0" tIns="0" rIns="0" bIns="0" rtlCol="0" anchor="t"/>
          <a:lstStyle/>
          <a:p>
            <a:pPr algn="l" indent="0" marL="0">
              <a:buNone/>
            </a:pPr>
            <a:r>
              <a:rPr lang="es-PE" altLang="en-US" sz="1584" dirty="0">
                <a:solidFill>
                  <a:srgbClr val="71677B"/>
                </a:solidFill>
                <a:latin typeface="Arial" pitchFamily="34" charset="0"/>
                <a:ea typeface="Arial" pitchFamily="34" charset="-122"/>
                <a:cs typeface="Arial" pitchFamily="34" charset="-120"/>
              </a:rPr>
              <a:t>Dato histórico de una estación.</a:t>
            </a:r>
            <a:endParaRPr lang="es-PE" sz="1584" dirty="0"/>
          </a:p>
        </p:txBody>
      </p:sp>
      <p:sp>
        <p:nvSpPr>
          <p:cNvPr id="34" name="Text 32"/>
          <p:cNvSpPr/>
          <p:nvPr/>
        </p:nvSpPr>
        <p:spPr>
          <a:xfrm>
            <a:off x="9006840" y="5848502"/>
            <a:ext cx="4297680" cy="249448"/>
          </a:xfrm>
          <a:prstGeom prst="rect">
            <a:avLst/>
          </a:prstGeom>
          <a:noFill/>
          <a:ln/>
        </p:spPr>
        <p:txBody>
          <a:bodyPr wrap="none" lIns="0" tIns="0" rIns="0" bIns="0" rtlCol="0" anchor="t"/>
          <a:lstStyle/>
          <a:p>
            <a:pPr algn="l" indent="0" marL="0">
              <a:buNone/>
            </a:pPr>
            <a:r>
              <a:rPr lang="es-PE" altLang="en-US" sz="1584" dirty="0">
                <a:solidFill>
                  <a:srgbClr val="71677B"/>
                </a:solidFill>
                <a:latin typeface="Arial" pitchFamily="34" charset="0"/>
                <a:ea typeface="Arial" pitchFamily="34" charset="-122"/>
                <a:cs typeface="Arial" pitchFamily="34" charset="-120"/>
              </a:rPr>
              <a:t>Contexto climático para el proyecto.</a:t>
            </a:r>
            <a:endParaRPr lang="es-PE" sz="158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4ED"/>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F4ED"/>
          </a:solidFill>
          <a:ln w="12700">
            <a:solidFill>
              <a:srgbClr val="F8F4ED">
                <a:alpha val="0"/>
              </a:srgbClr>
            </a:solidFill>
            <a:prstDash val="solid"/>
          </a:ln>
        </p:spPr>
      </p:sp>
      <p:sp>
        <p:nvSpPr>
          <p:cNvPr id="3" name="Text 1"/>
          <p:cNvSpPr/>
          <p:nvPr/>
        </p:nvSpPr>
        <p:spPr>
          <a:xfrm>
            <a:off x="731520" y="393192"/>
            <a:ext cx="1920240" cy="317480"/>
          </a:xfrm>
          <a:prstGeom prst="rect">
            <a:avLst/>
          </a:prstGeom>
          <a:noFill/>
          <a:ln/>
        </p:spPr>
        <p:txBody>
          <a:bodyPr wrap="none" lIns="0" tIns="0" rIns="0" bIns="0" rtlCol="0" anchor="t"/>
          <a:lstStyle/>
          <a:p>
            <a:pPr algn="l" indent="0" marL="0">
              <a:buNone/>
            </a:pPr>
            <a:r>
              <a:rPr lang="es-PE" altLang="en-US" sz="2016" b="1" dirty="0">
                <a:solidFill>
                  <a:srgbClr val="27163F"/>
                </a:solidFill>
                <a:latin typeface="Arial" pitchFamily="34" charset="0"/>
                <a:ea typeface="Arial" pitchFamily="34" charset="-122"/>
                <a:cs typeface="Arial" pitchFamily="34" charset="-120"/>
              </a:rPr>
              <a:t>Q-Niño</a:t>
            </a:r>
            <a:endParaRPr lang="es-PE" sz="2016" dirty="0"/>
          </a:p>
        </p:txBody>
      </p:sp>
      <p:sp>
        <p:nvSpPr>
          <p:cNvPr id="4" name="Text 2"/>
          <p:cNvSpPr/>
          <p:nvPr/>
        </p:nvSpPr>
        <p:spPr>
          <a:xfrm>
            <a:off x="2651760" y="448056"/>
            <a:ext cx="3108960" cy="215433"/>
          </a:xfrm>
          <a:prstGeom prst="rect">
            <a:avLst/>
          </a:prstGeom>
          <a:noFill/>
          <a:ln/>
        </p:spPr>
        <p:txBody>
          <a:bodyPr wrap="none" lIns="0" tIns="0" rIns="0" bIns="0" rtlCol="0" anchor="t"/>
          <a:lstStyle/>
          <a:p>
            <a:pPr algn="l" indent="0" marL="0">
              <a:buNone/>
            </a:pPr>
            <a:r>
              <a:rPr lang="es-PE" altLang="en-US" sz="1368" b="1" dirty="0">
                <a:solidFill>
                  <a:srgbClr val="71677B"/>
                </a:solidFill>
                <a:latin typeface="Arial" pitchFamily="34" charset="0"/>
                <a:ea typeface="Arial" pitchFamily="34" charset="-122"/>
                <a:cs typeface="Arial" pitchFamily="34" charset="-120"/>
              </a:rPr>
              <a:t>QUANTUM ACTION</a:t>
            </a:r>
            <a:endParaRPr lang="es-PE" sz="1368" dirty="0"/>
          </a:p>
        </p:txBody>
      </p:sp>
      <p:sp>
        <p:nvSpPr>
          <p:cNvPr id="5" name="Text 3"/>
          <p:cNvSpPr/>
          <p:nvPr/>
        </p:nvSpPr>
        <p:spPr>
          <a:xfrm>
            <a:off x="9829800" y="448056"/>
            <a:ext cx="4069080" cy="215433"/>
          </a:xfrm>
          <a:prstGeom prst="rect">
            <a:avLst/>
          </a:prstGeom>
          <a:noFill/>
          <a:ln/>
        </p:spPr>
        <p:txBody>
          <a:bodyPr wrap="none" lIns="0" tIns="0" rIns="0" bIns="0" rtlCol="0" anchor="t"/>
          <a:lstStyle/>
          <a:p>
            <a:pPr algn="r" indent="0" marL="0">
              <a:buNone/>
            </a:pPr>
            <a:r>
              <a:rPr lang="es-PE" altLang="en-US" sz="1368" dirty="0">
                <a:solidFill>
                  <a:srgbClr val="71677B"/>
                </a:solidFill>
                <a:latin typeface="Arial" pitchFamily="34" charset="0"/>
                <a:ea typeface="Arial" pitchFamily="34" charset="-122"/>
                <a:cs typeface="Arial" pitchFamily="34" charset="-120"/>
              </a:rPr>
              <a:t>QISKIT FALL FEST 2026 · FINAL</a:t>
            </a:r>
            <a:endParaRPr lang="es-PE" sz="1368" dirty="0"/>
          </a:p>
        </p:txBody>
      </p:sp>
      <p:sp>
        <p:nvSpPr>
          <p:cNvPr id="6" name="Shape 4"/>
          <p:cNvSpPr/>
          <p:nvPr/>
        </p:nvSpPr>
        <p:spPr>
          <a:xfrm>
            <a:off x="731520" y="905256"/>
            <a:ext cx="13167360" cy="0"/>
          </a:xfrm>
          <a:prstGeom prst="line">
            <a:avLst/>
          </a:prstGeom>
          <a:noFill/>
          <a:ln w="13716">
            <a:solidFill>
              <a:srgbClr val="DCD3E3"/>
            </a:solidFill>
            <a:prstDash val="solid"/>
          </a:ln>
        </p:spPr>
      </p:sp>
      <p:sp>
        <p:nvSpPr>
          <p:cNvPr id="7" name="Shape 5"/>
          <p:cNvSpPr/>
          <p:nvPr/>
        </p:nvSpPr>
        <p:spPr>
          <a:xfrm>
            <a:off x="731520" y="7470648"/>
            <a:ext cx="13167360" cy="0"/>
          </a:xfrm>
          <a:prstGeom prst="line">
            <a:avLst/>
          </a:prstGeom>
          <a:noFill/>
          <a:ln w="13716">
            <a:solidFill>
              <a:srgbClr val="DCD3E3"/>
            </a:solidFill>
            <a:prstDash val="solid"/>
          </a:ln>
        </p:spPr>
      </p:sp>
      <p:sp>
        <p:nvSpPr>
          <p:cNvPr id="8" name="Text 6">
            <a:hlinkClick r:id="rId1" tooltip=""/>
          </p:cNvPr>
          <p:cNvSpPr/>
          <p:nvPr/>
        </p:nvSpPr>
        <p:spPr>
          <a:xfrm>
            <a:off x="731520" y="7662672"/>
            <a:ext cx="12070080" cy="192756"/>
          </a:xfrm>
          <a:prstGeom prst="rect">
            <a:avLst/>
          </a:prstGeom>
          <a:noFill/>
          <a:ln/>
        </p:spPr>
        <p:txBody>
          <a:bodyPr wrap="none" lIns="0" tIns="0" rIns="0" bIns="0" rtlCol="0" anchor="t"/>
          <a:lstStyle/>
          <a:p>
            <a:pPr algn="l" indent="0" marL="0">
              <a:buNone/>
            </a:pPr>
            <a:r>
              <a:rPr lang="es-PE" altLang="en-US" sz="1224" u="sng" dirty="0">
                <a:solidFill>
                  <a:srgbClr val="71677B"/>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Modelo QAP · cada pareja se cuenta una vez · matrices F/D sintéticas en esta demo.</a:t>
            </a:r>
            <a:endParaRPr lang="es-PE" sz="1224" dirty="0"/>
          </a:p>
        </p:txBody>
      </p:sp>
      <p:sp>
        <p:nvSpPr>
          <p:cNvPr id="9" name="Text 7"/>
          <p:cNvSpPr/>
          <p:nvPr/>
        </p:nvSpPr>
        <p:spPr>
          <a:xfrm>
            <a:off x="12893040" y="7662672"/>
            <a:ext cx="1005840" cy="192756"/>
          </a:xfrm>
          <a:prstGeom prst="rect">
            <a:avLst/>
          </a:prstGeom>
          <a:noFill/>
          <a:ln/>
        </p:spPr>
        <p:txBody>
          <a:bodyPr wrap="none" lIns="0" tIns="0" rIns="0" bIns="0" rtlCol="0" anchor="t"/>
          <a:lstStyle/>
          <a:p>
            <a:pPr algn="r" indent="0" marL="0">
              <a:buNone/>
            </a:pPr>
            <a:r>
              <a:rPr lang="es-PE" altLang="en-US" sz="1224" b="1" dirty="0">
                <a:solidFill>
                  <a:srgbClr val="71677B"/>
                </a:solidFill>
                <a:latin typeface="Arial" pitchFamily="34" charset="0"/>
                <a:ea typeface="Arial" pitchFamily="34" charset="-122"/>
                <a:cs typeface="Arial" pitchFamily="34" charset="-120"/>
              </a:rPr>
              <a:t>02 / 06</a:t>
            </a:r>
            <a:endParaRPr lang="es-PE" sz="1224" dirty="0"/>
          </a:p>
        </p:txBody>
      </p:sp>
      <p:sp>
        <p:nvSpPr>
          <p:cNvPr id="10" name="Text 8"/>
          <p:cNvSpPr/>
          <p:nvPr/>
        </p:nvSpPr>
        <p:spPr>
          <a:xfrm>
            <a:off x="731520" y="1271016"/>
            <a:ext cx="13258800" cy="623621"/>
          </a:xfrm>
          <a:prstGeom prst="rect">
            <a:avLst/>
          </a:prstGeom>
          <a:noFill/>
          <a:ln/>
        </p:spPr>
        <p:txBody>
          <a:bodyPr wrap="none" lIns="0" tIns="0" rIns="0" bIns="0" rtlCol="0" anchor="t"/>
          <a:lstStyle/>
          <a:p>
            <a:pPr algn="l" indent="0" marL="0">
              <a:buNone/>
            </a:pPr>
            <a:r>
              <a:rPr lang="es-PE" altLang="en-US" sz="3960" b="1" dirty="0">
                <a:solidFill>
                  <a:srgbClr val="27163F"/>
                </a:solidFill>
                <a:latin typeface="Arial" pitchFamily="34" charset="0"/>
                <a:ea typeface="Arial" pitchFamily="34" charset="-122"/>
                <a:cs typeface="Arial" pitchFamily="34" charset="-120"/>
              </a:rPr>
              <a:t>Una asignación cambia varias relaciones</a:t>
            </a:r>
            <a:endParaRPr lang="es-PE" sz="3960" dirty="0"/>
          </a:p>
        </p:txBody>
      </p:sp>
      <p:sp>
        <p:nvSpPr>
          <p:cNvPr id="11" name="Text 9"/>
          <p:cNvSpPr/>
          <p:nvPr/>
        </p:nvSpPr>
        <p:spPr>
          <a:xfrm>
            <a:off x="749808" y="1965960"/>
            <a:ext cx="12984480" cy="294803"/>
          </a:xfrm>
          <a:prstGeom prst="rect">
            <a:avLst/>
          </a:prstGeom>
          <a:noFill/>
          <a:ln/>
        </p:spPr>
        <p:txBody>
          <a:bodyPr wrap="none" lIns="0" tIns="0" rIns="0" bIns="0" rtlCol="0" anchor="t"/>
          <a:lstStyle/>
          <a:p>
            <a:pPr algn="l" indent="0" marL="0">
              <a:buNone/>
            </a:pPr>
            <a:r>
              <a:rPr lang="es-PE" altLang="en-US" sz="1872" dirty="0">
                <a:solidFill>
                  <a:srgbClr val="71677B"/>
                </a:solidFill>
                <a:latin typeface="Arial" pitchFamily="34" charset="0"/>
                <a:ea typeface="Arial" pitchFamily="34" charset="-122"/>
                <a:cs typeface="Arial" pitchFamily="34" charset="-120"/>
              </a:rPr>
              <a:t>Una brigada por zona. Una zona por brigada.</a:t>
            </a:r>
            <a:endParaRPr lang="es-PE" sz="1872" dirty="0"/>
          </a:p>
        </p:txBody>
      </p:sp>
      <p:sp>
        <p:nvSpPr>
          <p:cNvPr id="12" name="Text 10"/>
          <p:cNvSpPr/>
          <p:nvPr/>
        </p:nvSpPr>
        <p:spPr>
          <a:xfrm>
            <a:off x="740664" y="2724912"/>
            <a:ext cx="1005840" cy="1156533"/>
          </a:xfrm>
          <a:prstGeom prst="rect">
            <a:avLst/>
          </a:prstGeom>
          <a:noFill/>
          <a:ln/>
        </p:spPr>
        <p:txBody>
          <a:bodyPr wrap="none" lIns="0" tIns="0" rIns="0" bIns="0" rtlCol="0" anchor="t"/>
          <a:lstStyle/>
          <a:p>
            <a:pPr algn="l" indent="0" marL="0">
              <a:buNone/>
            </a:pPr>
            <a:r>
              <a:rPr lang="es-PE" altLang="en-US" sz="7344" b="1" dirty="0">
                <a:solidFill>
                  <a:srgbClr val="6948AD"/>
                </a:solidFill>
                <a:latin typeface="Arial" pitchFamily="34" charset="0"/>
                <a:ea typeface="Arial" pitchFamily="34" charset="-122"/>
                <a:cs typeface="Arial" pitchFamily="34" charset="-120"/>
              </a:rPr>
              <a:t>F</a:t>
            </a:r>
            <a:endParaRPr lang="es-PE" sz="7344" dirty="0"/>
          </a:p>
        </p:txBody>
      </p:sp>
      <p:sp>
        <p:nvSpPr>
          <p:cNvPr id="13" name="Text 11"/>
          <p:cNvSpPr/>
          <p:nvPr/>
        </p:nvSpPr>
        <p:spPr>
          <a:xfrm>
            <a:off x="1901952" y="2926080"/>
            <a:ext cx="4297680" cy="385511"/>
          </a:xfrm>
          <a:prstGeom prst="rect">
            <a:avLst/>
          </a:prstGeom>
          <a:noFill/>
          <a:ln/>
        </p:spPr>
        <p:txBody>
          <a:bodyPr wrap="none" lIns="0" tIns="0" rIns="0" bIns="0" rtlCol="0" anchor="t"/>
          <a:lstStyle/>
          <a:p>
            <a:pPr algn="l" indent="0" marL="0">
              <a:buNone/>
            </a:pPr>
            <a:r>
              <a:rPr lang="es-PE" altLang="en-US" sz="2448" b="1" dirty="0">
                <a:solidFill>
                  <a:srgbClr val="27163F"/>
                </a:solidFill>
                <a:latin typeface="Arial" pitchFamily="34" charset="0"/>
                <a:ea typeface="Arial" pitchFamily="34" charset="-122"/>
                <a:cs typeface="Arial" pitchFamily="34" charset="-120"/>
              </a:rPr>
              <a:t>Interacción</a:t>
            </a:r>
            <a:endParaRPr lang="es-PE" sz="2448" dirty="0"/>
          </a:p>
        </p:txBody>
      </p:sp>
      <p:sp>
        <p:nvSpPr>
          <p:cNvPr id="14" name="Text 12"/>
          <p:cNvSpPr/>
          <p:nvPr/>
        </p:nvSpPr>
        <p:spPr>
          <a:xfrm>
            <a:off x="1901952" y="3314700"/>
            <a:ext cx="4297680" cy="385511"/>
          </a:xfrm>
          <a:prstGeom prst="rect">
            <a:avLst/>
          </a:prstGeom>
          <a:noFill/>
          <a:ln/>
        </p:spPr>
        <p:txBody>
          <a:bodyPr wrap="none" lIns="0" tIns="0" rIns="0" bIns="0" rtlCol="0" anchor="t"/>
          <a:lstStyle/>
          <a:p>
            <a:pPr algn="l" indent="0" marL="0">
              <a:buNone/>
            </a:pPr>
            <a:r>
              <a:rPr lang="es-PE" altLang="en-US" sz="2448" b="1" dirty="0">
                <a:solidFill>
                  <a:srgbClr val="27163F"/>
                </a:solidFill>
                <a:latin typeface="Arial" pitchFamily="34" charset="0"/>
                <a:ea typeface="Arial" pitchFamily="34" charset="-122"/>
                <a:cs typeface="Arial" pitchFamily="34" charset="-120"/>
              </a:rPr>
              <a:t>entre brigadas</a:t>
            </a:r>
            <a:endParaRPr lang="es-PE" sz="2448" dirty="0"/>
          </a:p>
        </p:txBody>
      </p:sp>
      <p:sp>
        <p:nvSpPr>
          <p:cNvPr id="15" name="Text 13"/>
          <p:cNvSpPr/>
          <p:nvPr/>
        </p:nvSpPr>
        <p:spPr>
          <a:xfrm>
            <a:off x="7918704" y="2724912"/>
            <a:ext cx="1005840" cy="1156533"/>
          </a:xfrm>
          <a:prstGeom prst="rect">
            <a:avLst/>
          </a:prstGeom>
          <a:noFill/>
          <a:ln/>
        </p:spPr>
        <p:txBody>
          <a:bodyPr wrap="none" lIns="0" tIns="0" rIns="0" bIns="0" rtlCol="0" anchor="t"/>
          <a:lstStyle/>
          <a:p>
            <a:pPr algn="l" indent="0" marL="0">
              <a:buNone/>
            </a:pPr>
            <a:r>
              <a:rPr lang="es-PE" altLang="en-US" sz="7344" b="1" dirty="0">
                <a:solidFill>
                  <a:srgbClr val="6948AD"/>
                </a:solidFill>
                <a:latin typeface="Arial" pitchFamily="34" charset="0"/>
                <a:ea typeface="Arial" pitchFamily="34" charset="-122"/>
                <a:cs typeface="Arial" pitchFamily="34" charset="-120"/>
              </a:rPr>
              <a:t>D</a:t>
            </a:r>
            <a:endParaRPr lang="es-PE" sz="7344" dirty="0"/>
          </a:p>
        </p:txBody>
      </p:sp>
      <p:sp>
        <p:nvSpPr>
          <p:cNvPr id="16" name="Text 14"/>
          <p:cNvSpPr/>
          <p:nvPr/>
        </p:nvSpPr>
        <p:spPr>
          <a:xfrm>
            <a:off x="9052560" y="2926080"/>
            <a:ext cx="4389120" cy="385511"/>
          </a:xfrm>
          <a:prstGeom prst="rect">
            <a:avLst/>
          </a:prstGeom>
          <a:noFill/>
          <a:ln/>
        </p:spPr>
        <p:txBody>
          <a:bodyPr wrap="none" lIns="0" tIns="0" rIns="0" bIns="0" rtlCol="0" anchor="t"/>
          <a:lstStyle/>
          <a:p>
            <a:pPr algn="l" indent="0" marL="0">
              <a:buNone/>
            </a:pPr>
            <a:r>
              <a:rPr lang="es-PE" altLang="en-US" sz="2448" b="1" dirty="0">
                <a:solidFill>
                  <a:srgbClr val="27163F"/>
                </a:solidFill>
                <a:latin typeface="Arial" pitchFamily="34" charset="0"/>
                <a:ea typeface="Arial" pitchFamily="34" charset="-122"/>
                <a:cs typeface="Arial" pitchFamily="34" charset="-120"/>
              </a:rPr>
              <a:t>Separación</a:t>
            </a:r>
            <a:endParaRPr lang="es-PE" sz="2448" dirty="0"/>
          </a:p>
        </p:txBody>
      </p:sp>
      <p:sp>
        <p:nvSpPr>
          <p:cNvPr id="17" name="Text 15"/>
          <p:cNvSpPr/>
          <p:nvPr/>
        </p:nvSpPr>
        <p:spPr>
          <a:xfrm>
            <a:off x="9052560" y="3314700"/>
            <a:ext cx="4389120" cy="385511"/>
          </a:xfrm>
          <a:prstGeom prst="rect">
            <a:avLst/>
          </a:prstGeom>
          <a:noFill/>
          <a:ln/>
        </p:spPr>
        <p:txBody>
          <a:bodyPr wrap="none" lIns="0" tIns="0" rIns="0" bIns="0" rtlCol="0" anchor="t"/>
          <a:lstStyle/>
          <a:p>
            <a:pPr algn="l" indent="0" marL="0">
              <a:buNone/>
            </a:pPr>
            <a:r>
              <a:rPr lang="es-PE" altLang="en-US" sz="2448" b="1" dirty="0">
                <a:solidFill>
                  <a:srgbClr val="27163F"/>
                </a:solidFill>
                <a:latin typeface="Arial" pitchFamily="34" charset="0"/>
                <a:ea typeface="Arial" pitchFamily="34" charset="-122"/>
                <a:cs typeface="Arial" pitchFamily="34" charset="-120"/>
              </a:rPr>
              <a:t>entre destinos</a:t>
            </a:r>
            <a:endParaRPr lang="es-PE" sz="2448" dirty="0"/>
          </a:p>
        </p:txBody>
      </p:sp>
      <p:sp>
        <p:nvSpPr>
          <p:cNvPr id="18" name="Text 16"/>
          <p:cNvSpPr/>
          <p:nvPr/>
        </p:nvSpPr>
        <p:spPr>
          <a:xfrm>
            <a:off x="768096" y="4242816"/>
            <a:ext cx="1828800" cy="328818"/>
          </a:xfrm>
          <a:prstGeom prst="rect">
            <a:avLst/>
          </a:prstGeom>
          <a:noFill/>
          <a:ln/>
        </p:spPr>
        <p:txBody>
          <a:bodyPr wrap="none" lIns="0" tIns="0" rIns="0" bIns="0" rtlCol="0" anchor="t"/>
          <a:lstStyle/>
          <a:p>
            <a:pPr algn="l" indent="0" marL="0">
              <a:buNone/>
            </a:pPr>
            <a:r>
              <a:rPr lang="es-PE" altLang="en-US" sz="2088" b="1" dirty="0">
                <a:solidFill>
                  <a:srgbClr val="27163F"/>
                </a:solidFill>
                <a:latin typeface="Arial" pitchFamily="34" charset="0"/>
                <a:ea typeface="Arial" pitchFamily="34" charset="-122"/>
                <a:cs typeface="Arial" pitchFamily="34" charset="-120"/>
              </a:rPr>
              <a:t>Médica</a:t>
            </a:r>
            <a:endParaRPr lang="es-PE" sz="2088" dirty="0"/>
          </a:p>
        </p:txBody>
      </p:sp>
      <p:sp>
        <p:nvSpPr>
          <p:cNvPr id="19" name="Text 17"/>
          <p:cNvSpPr/>
          <p:nvPr/>
        </p:nvSpPr>
        <p:spPr>
          <a:xfrm>
            <a:off x="4379976" y="4242816"/>
            <a:ext cx="1828800" cy="328818"/>
          </a:xfrm>
          <a:prstGeom prst="rect">
            <a:avLst/>
          </a:prstGeom>
          <a:noFill/>
          <a:ln/>
        </p:spPr>
        <p:txBody>
          <a:bodyPr wrap="none" lIns="0" tIns="0" rIns="0" bIns="0" rtlCol="0" anchor="t"/>
          <a:lstStyle/>
          <a:p>
            <a:pPr algn="l" indent="0" marL="0">
              <a:buNone/>
            </a:pPr>
            <a:r>
              <a:rPr lang="es-PE" altLang="en-US" sz="2088" b="1" dirty="0">
                <a:solidFill>
                  <a:srgbClr val="27163F"/>
                </a:solidFill>
                <a:latin typeface="Arial" pitchFamily="34" charset="0"/>
                <a:ea typeface="Arial" pitchFamily="34" charset="-122"/>
                <a:cs typeface="Arial" pitchFamily="34" charset="-120"/>
              </a:rPr>
              <a:t>Rescate</a:t>
            </a:r>
            <a:endParaRPr lang="es-PE" sz="2088" dirty="0"/>
          </a:p>
        </p:txBody>
      </p:sp>
      <p:sp>
        <p:nvSpPr>
          <p:cNvPr id="20" name="Shape 18"/>
          <p:cNvSpPr/>
          <p:nvPr/>
        </p:nvSpPr>
        <p:spPr>
          <a:xfrm>
            <a:off x="2029968" y="4398264"/>
            <a:ext cx="2084832" cy="0"/>
          </a:xfrm>
          <a:prstGeom prst="line">
            <a:avLst/>
          </a:prstGeom>
          <a:noFill/>
          <a:ln w="36576">
            <a:solidFill>
              <a:srgbClr val="6948AD"/>
            </a:solidFill>
            <a:prstDash val="solid"/>
          </a:ln>
        </p:spPr>
      </p:sp>
      <p:sp>
        <p:nvSpPr>
          <p:cNvPr id="21" name="Shape 19"/>
          <p:cNvSpPr/>
          <p:nvPr/>
        </p:nvSpPr>
        <p:spPr>
          <a:xfrm>
            <a:off x="1993392" y="4334256"/>
            <a:ext cx="128016" cy="128016"/>
          </a:xfrm>
          <a:prstGeom prst="ellipse">
            <a:avLst/>
          </a:prstGeom>
          <a:solidFill>
            <a:srgbClr val="6948AD"/>
          </a:solidFill>
          <a:ln w="12700">
            <a:solidFill>
              <a:srgbClr val="6948AD">
                <a:alpha val="0"/>
              </a:srgbClr>
            </a:solidFill>
            <a:prstDash val="solid"/>
          </a:ln>
        </p:spPr>
      </p:sp>
      <p:sp>
        <p:nvSpPr>
          <p:cNvPr id="22" name="Shape 20"/>
          <p:cNvSpPr/>
          <p:nvPr/>
        </p:nvSpPr>
        <p:spPr>
          <a:xfrm>
            <a:off x="4023360" y="4334256"/>
            <a:ext cx="128016" cy="128016"/>
          </a:xfrm>
          <a:prstGeom prst="ellipse">
            <a:avLst/>
          </a:prstGeom>
          <a:solidFill>
            <a:srgbClr val="6948AD"/>
          </a:solidFill>
          <a:ln w="12700">
            <a:solidFill>
              <a:srgbClr val="6948AD">
                <a:alpha val="0"/>
              </a:srgbClr>
            </a:solidFill>
            <a:prstDash val="solid"/>
          </a:ln>
        </p:spPr>
      </p:sp>
      <p:sp>
        <p:nvSpPr>
          <p:cNvPr id="23" name="Text 21"/>
          <p:cNvSpPr/>
          <p:nvPr/>
        </p:nvSpPr>
        <p:spPr>
          <a:xfrm>
            <a:off x="2898648" y="3886200"/>
            <a:ext cx="548640" cy="385511"/>
          </a:xfrm>
          <a:prstGeom prst="rect">
            <a:avLst/>
          </a:prstGeom>
          <a:noFill/>
          <a:ln/>
        </p:spPr>
        <p:txBody>
          <a:bodyPr wrap="none" lIns="0" tIns="0" rIns="0" bIns="0" rtlCol="0" anchor="t"/>
          <a:lstStyle/>
          <a:p>
            <a:pPr algn="ctr" indent="0" marL="0">
              <a:buNone/>
            </a:pPr>
            <a:r>
              <a:rPr lang="es-PE" altLang="en-US" sz="2448" b="1" dirty="0">
                <a:solidFill>
                  <a:srgbClr val="6948AD"/>
                </a:solidFill>
                <a:latin typeface="Arial" pitchFamily="34" charset="0"/>
                <a:ea typeface="Arial" pitchFamily="34" charset="-122"/>
                <a:cs typeface="Arial" pitchFamily="34" charset="-120"/>
              </a:rPr>
              <a:t>9</a:t>
            </a:r>
            <a:endParaRPr lang="es-PE" sz="2448" dirty="0"/>
          </a:p>
        </p:txBody>
      </p:sp>
      <p:sp>
        <p:nvSpPr>
          <p:cNvPr id="24" name="Text 22"/>
          <p:cNvSpPr/>
          <p:nvPr/>
        </p:nvSpPr>
        <p:spPr>
          <a:xfrm>
            <a:off x="7936992" y="4242816"/>
            <a:ext cx="1737360" cy="328818"/>
          </a:xfrm>
          <a:prstGeom prst="rect">
            <a:avLst/>
          </a:prstGeom>
          <a:noFill/>
          <a:ln/>
        </p:spPr>
        <p:txBody>
          <a:bodyPr wrap="none" lIns="0" tIns="0" rIns="0" bIns="0" rtlCol="0" anchor="t"/>
          <a:lstStyle/>
          <a:p>
            <a:pPr algn="l" indent="0" marL="0">
              <a:buNone/>
            </a:pPr>
            <a:r>
              <a:rPr lang="es-PE" altLang="en-US" sz="2088" b="1" dirty="0">
                <a:solidFill>
                  <a:srgbClr val="27163F"/>
                </a:solidFill>
                <a:latin typeface="Arial" pitchFamily="34" charset="0"/>
                <a:ea typeface="Arial" pitchFamily="34" charset="-122"/>
                <a:cs typeface="Arial" pitchFamily="34" charset="-120"/>
              </a:rPr>
              <a:t>Trujillo</a:t>
            </a:r>
            <a:endParaRPr lang="es-PE" sz="2088" dirty="0"/>
          </a:p>
        </p:txBody>
      </p:sp>
      <p:sp>
        <p:nvSpPr>
          <p:cNvPr id="25" name="Text 23"/>
          <p:cNvSpPr/>
          <p:nvPr/>
        </p:nvSpPr>
        <p:spPr>
          <a:xfrm>
            <a:off x="11503152" y="4242816"/>
            <a:ext cx="2377440" cy="328818"/>
          </a:xfrm>
          <a:prstGeom prst="rect">
            <a:avLst/>
          </a:prstGeom>
          <a:noFill/>
          <a:ln/>
        </p:spPr>
        <p:txBody>
          <a:bodyPr wrap="none" lIns="0" tIns="0" rIns="0" bIns="0" rtlCol="0" anchor="t"/>
          <a:lstStyle/>
          <a:p>
            <a:pPr algn="l" indent="0" marL="0">
              <a:buNone/>
            </a:pPr>
            <a:r>
              <a:rPr lang="es-PE" altLang="en-US" sz="2088" b="1" dirty="0">
                <a:solidFill>
                  <a:srgbClr val="27163F"/>
                </a:solidFill>
                <a:latin typeface="Arial" pitchFamily="34" charset="0"/>
                <a:ea typeface="Arial" pitchFamily="34" charset="-122"/>
                <a:cs typeface="Arial" pitchFamily="34" charset="-120"/>
              </a:rPr>
              <a:t>Lambayeque</a:t>
            </a:r>
            <a:endParaRPr lang="es-PE" sz="2088" dirty="0"/>
          </a:p>
        </p:txBody>
      </p:sp>
      <p:sp>
        <p:nvSpPr>
          <p:cNvPr id="26" name="Shape 24"/>
          <p:cNvSpPr/>
          <p:nvPr/>
        </p:nvSpPr>
        <p:spPr>
          <a:xfrm>
            <a:off x="9198864" y="4398264"/>
            <a:ext cx="2048256" cy="0"/>
          </a:xfrm>
          <a:prstGeom prst="line">
            <a:avLst/>
          </a:prstGeom>
          <a:noFill/>
          <a:ln w="36576">
            <a:solidFill>
              <a:srgbClr val="6948AD"/>
            </a:solidFill>
            <a:prstDash val="solid"/>
          </a:ln>
        </p:spPr>
      </p:sp>
      <p:sp>
        <p:nvSpPr>
          <p:cNvPr id="27" name="Shape 25"/>
          <p:cNvSpPr/>
          <p:nvPr/>
        </p:nvSpPr>
        <p:spPr>
          <a:xfrm>
            <a:off x="9162288" y="4334256"/>
            <a:ext cx="128016" cy="128016"/>
          </a:xfrm>
          <a:prstGeom prst="ellipse">
            <a:avLst/>
          </a:prstGeom>
          <a:solidFill>
            <a:srgbClr val="6948AD"/>
          </a:solidFill>
          <a:ln w="12700">
            <a:solidFill>
              <a:srgbClr val="6948AD">
                <a:alpha val="0"/>
              </a:srgbClr>
            </a:solidFill>
            <a:prstDash val="solid"/>
          </a:ln>
        </p:spPr>
      </p:sp>
      <p:sp>
        <p:nvSpPr>
          <p:cNvPr id="28" name="Shape 26"/>
          <p:cNvSpPr/>
          <p:nvPr/>
        </p:nvSpPr>
        <p:spPr>
          <a:xfrm>
            <a:off x="11155680" y="4334256"/>
            <a:ext cx="128016" cy="128016"/>
          </a:xfrm>
          <a:prstGeom prst="ellipse">
            <a:avLst/>
          </a:prstGeom>
          <a:solidFill>
            <a:srgbClr val="6948AD"/>
          </a:solidFill>
          <a:ln w="12700">
            <a:solidFill>
              <a:srgbClr val="6948AD">
                <a:alpha val="0"/>
              </a:srgbClr>
            </a:solidFill>
            <a:prstDash val="solid"/>
          </a:ln>
        </p:spPr>
      </p:sp>
      <p:sp>
        <p:nvSpPr>
          <p:cNvPr id="29" name="Text 27"/>
          <p:cNvSpPr/>
          <p:nvPr/>
        </p:nvSpPr>
        <p:spPr>
          <a:xfrm>
            <a:off x="10076688" y="3886200"/>
            <a:ext cx="548640" cy="385511"/>
          </a:xfrm>
          <a:prstGeom prst="rect">
            <a:avLst/>
          </a:prstGeom>
          <a:noFill/>
          <a:ln/>
        </p:spPr>
        <p:txBody>
          <a:bodyPr wrap="none" lIns="0" tIns="0" rIns="0" bIns="0" rtlCol="0" anchor="t"/>
          <a:lstStyle/>
          <a:p>
            <a:pPr algn="ctr" indent="0" marL="0">
              <a:buNone/>
            </a:pPr>
            <a:r>
              <a:rPr lang="es-PE" altLang="en-US" sz="2448" b="1" dirty="0">
                <a:solidFill>
                  <a:srgbClr val="6948AD"/>
                </a:solidFill>
                <a:latin typeface="Arial" pitchFamily="34" charset="0"/>
                <a:ea typeface="Arial" pitchFamily="34" charset="-122"/>
                <a:cs typeface="Arial" pitchFamily="34" charset="-120"/>
              </a:rPr>
              <a:t>5</a:t>
            </a:r>
            <a:endParaRPr lang="es-PE" sz="2448" dirty="0"/>
          </a:p>
        </p:txBody>
      </p:sp>
      <p:sp>
        <p:nvSpPr>
          <p:cNvPr id="30" name="Text 28"/>
          <p:cNvSpPr/>
          <p:nvPr/>
        </p:nvSpPr>
        <p:spPr>
          <a:xfrm>
            <a:off x="6793992" y="4023360"/>
            <a:ext cx="640080" cy="646298"/>
          </a:xfrm>
          <a:prstGeom prst="rect">
            <a:avLst/>
          </a:prstGeom>
          <a:noFill/>
          <a:ln/>
        </p:spPr>
        <p:txBody>
          <a:bodyPr wrap="none" lIns="0" tIns="0" rIns="0" bIns="0" rtlCol="0" anchor="t"/>
          <a:lstStyle/>
          <a:p>
            <a:pPr algn="ctr" indent="0" marL="0">
              <a:buNone/>
            </a:pPr>
            <a:r>
              <a:rPr lang="es-PE" altLang="en-US" sz="4104" b="1" dirty="0">
                <a:solidFill>
                  <a:srgbClr val="71677B"/>
                </a:solidFill>
                <a:latin typeface="Arial" pitchFamily="34" charset="0"/>
                <a:ea typeface="Arial" pitchFamily="34" charset="-122"/>
                <a:cs typeface="Arial" pitchFamily="34" charset="-120"/>
              </a:rPr>
              <a:t>×</a:t>
            </a:r>
            <a:endParaRPr lang="es-PE" sz="4104" dirty="0"/>
          </a:p>
        </p:txBody>
      </p:sp>
      <p:sp>
        <p:nvSpPr>
          <p:cNvPr id="31" name="Shape 29"/>
          <p:cNvSpPr/>
          <p:nvPr/>
        </p:nvSpPr>
        <p:spPr>
          <a:xfrm>
            <a:off x="731520" y="5056632"/>
            <a:ext cx="13167360" cy="0"/>
          </a:xfrm>
          <a:prstGeom prst="line">
            <a:avLst/>
          </a:prstGeom>
          <a:noFill/>
          <a:ln w="18288">
            <a:solidFill>
              <a:srgbClr val="DCD3E3"/>
            </a:solidFill>
            <a:prstDash val="solid"/>
          </a:ln>
        </p:spPr>
      </p:sp>
      <p:sp>
        <p:nvSpPr>
          <p:cNvPr id="32" name="Text 30"/>
          <p:cNvSpPr/>
          <p:nvPr/>
        </p:nvSpPr>
        <p:spPr>
          <a:xfrm>
            <a:off x="777240" y="5312664"/>
            <a:ext cx="3566160" cy="317480"/>
          </a:xfrm>
          <a:prstGeom prst="rect">
            <a:avLst/>
          </a:prstGeom>
          <a:noFill/>
          <a:ln/>
        </p:spPr>
        <p:txBody>
          <a:bodyPr wrap="none" lIns="0" tIns="0" rIns="0" bIns="0" rtlCol="0" anchor="t"/>
          <a:lstStyle/>
          <a:p>
            <a:pPr algn="l" indent="0" marL="0">
              <a:buNone/>
            </a:pPr>
            <a:r>
              <a:rPr lang="es-PE" altLang="en-US" sz="2016" dirty="0">
                <a:solidFill>
                  <a:srgbClr val="71677B"/>
                </a:solidFill>
                <a:latin typeface="Arial" pitchFamily="34" charset="0"/>
                <a:ea typeface="Arial" pitchFamily="34" charset="-122"/>
                <a:cs typeface="Arial" pitchFamily="34" charset="-120"/>
              </a:rPr>
              <a:t>Esta pareja aporta</a:t>
            </a:r>
            <a:endParaRPr lang="es-PE" sz="2016" dirty="0"/>
          </a:p>
        </p:txBody>
      </p:sp>
      <p:sp>
        <p:nvSpPr>
          <p:cNvPr id="33" name="Text 31"/>
          <p:cNvSpPr/>
          <p:nvPr/>
        </p:nvSpPr>
        <p:spPr>
          <a:xfrm>
            <a:off x="4379976" y="5266944"/>
            <a:ext cx="4023360" cy="453542"/>
          </a:xfrm>
          <a:prstGeom prst="rect">
            <a:avLst/>
          </a:prstGeom>
          <a:noFill/>
          <a:ln/>
        </p:spPr>
        <p:txBody>
          <a:bodyPr wrap="none" lIns="0" tIns="0" rIns="0" bIns="0" rtlCol="0" anchor="t"/>
          <a:lstStyle/>
          <a:p>
            <a:pPr algn="l" indent="0" marL="0">
              <a:buNone/>
            </a:pPr>
            <a:r>
              <a:rPr lang="es-PE" altLang="en-US" sz="2880" b="1" dirty="0">
                <a:solidFill>
                  <a:srgbClr val="6948AD"/>
                </a:solidFill>
                <a:latin typeface="Arial" pitchFamily="34" charset="0"/>
                <a:ea typeface="Arial" pitchFamily="34" charset="-122"/>
                <a:cs typeface="Arial" pitchFamily="34" charset="-120"/>
              </a:rPr>
              <a:t>9 × 5 = 45</a:t>
            </a:r>
            <a:endParaRPr lang="es-PE" sz="2880" dirty="0"/>
          </a:p>
        </p:txBody>
      </p:sp>
      <p:sp>
        <p:nvSpPr>
          <p:cNvPr id="34" name="Text 32"/>
          <p:cNvSpPr/>
          <p:nvPr/>
        </p:nvSpPr>
        <p:spPr>
          <a:xfrm>
            <a:off x="8339328" y="5376672"/>
            <a:ext cx="5486400" cy="283464"/>
          </a:xfrm>
          <a:prstGeom prst="rect">
            <a:avLst/>
          </a:prstGeom>
          <a:noFill/>
          <a:ln/>
        </p:spPr>
        <p:txBody>
          <a:bodyPr wrap="none" lIns="0" tIns="0" rIns="0" bIns="0" rtlCol="0" anchor="t"/>
          <a:lstStyle/>
          <a:p>
            <a:pPr algn="l" indent="0" marL="0">
              <a:buNone/>
            </a:pPr>
            <a:r>
              <a:rPr lang="es-PE" altLang="en-US" sz="1800" dirty="0">
                <a:solidFill>
                  <a:srgbClr val="71677B"/>
                </a:solidFill>
                <a:latin typeface="Arial" pitchFamily="34" charset="0"/>
                <a:ea typeface="Arial" pitchFamily="34" charset="-122"/>
                <a:cs typeface="Arial" pitchFamily="34" charset="-120"/>
              </a:rPr>
              <a:t>unidades de coste ponderado</a:t>
            </a:r>
            <a:endParaRPr lang="es-PE" sz="1800" dirty="0"/>
          </a:p>
        </p:txBody>
      </p:sp>
      <p:sp>
        <p:nvSpPr>
          <p:cNvPr id="35" name="Shape 33"/>
          <p:cNvSpPr/>
          <p:nvPr/>
        </p:nvSpPr>
        <p:spPr>
          <a:xfrm>
            <a:off x="731520" y="6016752"/>
            <a:ext cx="13167360" cy="1051560"/>
          </a:xfrm>
          <a:prstGeom prst="rect">
            <a:avLst/>
          </a:prstGeom>
          <a:solidFill>
            <a:srgbClr val="27163F"/>
          </a:solidFill>
          <a:ln w="12700">
            <a:solidFill>
              <a:srgbClr val="27163F">
                <a:alpha val="0"/>
              </a:srgbClr>
            </a:solidFill>
            <a:prstDash val="solid"/>
          </a:ln>
        </p:spPr>
      </p:sp>
      <p:sp>
        <p:nvSpPr>
          <p:cNvPr id="36" name="Text 34"/>
          <p:cNvSpPr/>
          <p:nvPr/>
        </p:nvSpPr>
        <p:spPr>
          <a:xfrm>
            <a:off x="1005840" y="6208776"/>
            <a:ext cx="12435840" cy="453542"/>
          </a:xfrm>
          <a:prstGeom prst="rect">
            <a:avLst/>
          </a:prstGeom>
          <a:noFill/>
          <a:ln/>
        </p:spPr>
        <p:txBody>
          <a:bodyPr wrap="none" lIns="0" tIns="0" rIns="0" bIns="0" rtlCol="0" anchor="t"/>
          <a:lstStyle/>
          <a:p>
            <a:pPr algn="l" indent="0" marL="0">
              <a:buNone/>
            </a:pPr>
            <a:r>
              <a:rPr lang="es-PE" altLang="en-US" sz="2880" b="1" dirty="0">
                <a:solidFill>
                  <a:srgbClr val="F8F4ED"/>
                </a:solidFill>
                <a:latin typeface="Arial" pitchFamily="34" charset="0"/>
                <a:ea typeface="Arial" pitchFamily="34" charset="-122"/>
                <a:cs typeface="Arial" pitchFamily="34" charset="-120"/>
              </a:rPr>
              <a:t>Minimizar C(p) = Σ F[i,k] × D[p(i),p(k)]</a:t>
            </a:r>
            <a:endParaRPr lang="es-PE" sz="2880" dirty="0"/>
          </a:p>
        </p:txBody>
      </p:sp>
      <p:sp>
        <p:nvSpPr>
          <p:cNvPr id="37" name="Text 35"/>
          <p:cNvSpPr/>
          <p:nvPr/>
        </p:nvSpPr>
        <p:spPr>
          <a:xfrm>
            <a:off x="1042416" y="6739128"/>
            <a:ext cx="11887200" cy="238110"/>
          </a:xfrm>
          <a:prstGeom prst="rect">
            <a:avLst/>
          </a:prstGeom>
          <a:noFill/>
          <a:ln/>
        </p:spPr>
        <p:txBody>
          <a:bodyPr wrap="none" lIns="0" tIns="0" rIns="0" bIns="0" rtlCol="0" anchor="t"/>
          <a:lstStyle/>
          <a:p>
            <a:pPr algn="l" indent="0" marL="0">
              <a:buNone/>
            </a:pPr>
            <a:r>
              <a:rPr lang="es-PE" altLang="en-US" sz="1512" dirty="0">
                <a:solidFill>
                  <a:srgbClr val="D8C9F1"/>
                </a:solidFill>
                <a:latin typeface="Arial" pitchFamily="34" charset="0"/>
                <a:ea typeface="Arial" pitchFamily="34" charset="-122"/>
                <a:cs typeface="Arial" pitchFamily="34" charset="-120"/>
              </a:rPr>
              <a:t>i &lt; k   ·   el coste total suma todas las parejas</a:t>
            </a:r>
            <a:endParaRPr lang="es-PE" sz="1512"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4ED"/>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F4ED"/>
          </a:solidFill>
          <a:ln w="12700">
            <a:solidFill>
              <a:srgbClr val="F8F4ED">
                <a:alpha val="0"/>
              </a:srgbClr>
            </a:solidFill>
            <a:prstDash val="solid"/>
          </a:ln>
        </p:spPr>
      </p:sp>
      <p:sp>
        <p:nvSpPr>
          <p:cNvPr id="3" name="Text 1"/>
          <p:cNvSpPr/>
          <p:nvPr/>
        </p:nvSpPr>
        <p:spPr>
          <a:xfrm>
            <a:off x="731520" y="393192"/>
            <a:ext cx="1920240" cy="317480"/>
          </a:xfrm>
          <a:prstGeom prst="rect">
            <a:avLst/>
          </a:prstGeom>
          <a:noFill/>
          <a:ln/>
        </p:spPr>
        <p:txBody>
          <a:bodyPr wrap="none" lIns="0" tIns="0" rIns="0" bIns="0" rtlCol="0" anchor="t"/>
          <a:lstStyle/>
          <a:p>
            <a:pPr algn="l" indent="0" marL="0">
              <a:buNone/>
            </a:pPr>
            <a:r>
              <a:rPr lang="es-PE" altLang="en-US" sz="2016" b="1" dirty="0">
                <a:solidFill>
                  <a:srgbClr val="27163F"/>
                </a:solidFill>
                <a:latin typeface="Arial" pitchFamily="34" charset="0"/>
                <a:ea typeface="Arial" pitchFamily="34" charset="-122"/>
                <a:cs typeface="Arial" pitchFamily="34" charset="-120"/>
              </a:rPr>
              <a:t>Q-Niño</a:t>
            </a:r>
            <a:endParaRPr lang="es-PE" sz="2016" dirty="0"/>
          </a:p>
        </p:txBody>
      </p:sp>
      <p:sp>
        <p:nvSpPr>
          <p:cNvPr id="4" name="Text 2"/>
          <p:cNvSpPr/>
          <p:nvPr/>
        </p:nvSpPr>
        <p:spPr>
          <a:xfrm>
            <a:off x="2651760" y="448056"/>
            <a:ext cx="3108960" cy="215433"/>
          </a:xfrm>
          <a:prstGeom prst="rect">
            <a:avLst/>
          </a:prstGeom>
          <a:noFill/>
          <a:ln/>
        </p:spPr>
        <p:txBody>
          <a:bodyPr wrap="none" lIns="0" tIns="0" rIns="0" bIns="0" rtlCol="0" anchor="t"/>
          <a:lstStyle/>
          <a:p>
            <a:pPr algn="l" indent="0" marL="0">
              <a:buNone/>
            </a:pPr>
            <a:r>
              <a:rPr lang="es-PE" altLang="en-US" sz="1368" b="1" dirty="0">
                <a:solidFill>
                  <a:srgbClr val="71677B"/>
                </a:solidFill>
                <a:latin typeface="Arial" pitchFamily="34" charset="0"/>
                <a:ea typeface="Arial" pitchFamily="34" charset="-122"/>
                <a:cs typeface="Arial" pitchFamily="34" charset="-120"/>
              </a:rPr>
              <a:t>QUANTUM ACTION</a:t>
            </a:r>
            <a:endParaRPr lang="es-PE" sz="1368" dirty="0"/>
          </a:p>
        </p:txBody>
      </p:sp>
      <p:sp>
        <p:nvSpPr>
          <p:cNvPr id="5" name="Text 3"/>
          <p:cNvSpPr/>
          <p:nvPr/>
        </p:nvSpPr>
        <p:spPr>
          <a:xfrm>
            <a:off x="9829800" y="448056"/>
            <a:ext cx="4069080" cy="215433"/>
          </a:xfrm>
          <a:prstGeom prst="rect">
            <a:avLst/>
          </a:prstGeom>
          <a:noFill/>
          <a:ln/>
        </p:spPr>
        <p:txBody>
          <a:bodyPr wrap="none" lIns="0" tIns="0" rIns="0" bIns="0" rtlCol="0" anchor="t"/>
          <a:lstStyle/>
          <a:p>
            <a:pPr algn="r" indent="0" marL="0">
              <a:buNone/>
            </a:pPr>
            <a:r>
              <a:rPr lang="es-PE" altLang="en-US" sz="1368" dirty="0">
                <a:solidFill>
                  <a:srgbClr val="71677B"/>
                </a:solidFill>
                <a:latin typeface="Arial" pitchFamily="34" charset="0"/>
                <a:ea typeface="Arial" pitchFamily="34" charset="-122"/>
                <a:cs typeface="Arial" pitchFamily="34" charset="-120"/>
              </a:rPr>
              <a:t>QISKIT FALL FEST 2026 · FINAL</a:t>
            </a:r>
            <a:endParaRPr lang="es-PE" sz="1368" dirty="0"/>
          </a:p>
        </p:txBody>
      </p:sp>
      <p:sp>
        <p:nvSpPr>
          <p:cNvPr id="6" name="Shape 4"/>
          <p:cNvSpPr/>
          <p:nvPr/>
        </p:nvSpPr>
        <p:spPr>
          <a:xfrm>
            <a:off x="731520" y="905256"/>
            <a:ext cx="13167360" cy="0"/>
          </a:xfrm>
          <a:prstGeom prst="line">
            <a:avLst/>
          </a:prstGeom>
          <a:noFill/>
          <a:ln w="13716">
            <a:solidFill>
              <a:srgbClr val="DCD3E3"/>
            </a:solidFill>
            <a:prstDash val="solid"/>
          </a:ln>
        </p:spPr>
      </p:sp>
      <p:sp>
        <p:nvSpPr>
          <p:cNvPr id="7" name="Shape 5"/>
          <p:cNvSpPr/>
          <p:nvPr/>
        </p:nvSpPr>
        <p:spPr>
          <a:xfrm>
            <a:off x="731520" y="7470648"/>
            <a:ext cx="13167360" cy="0"/>
          </a:xfrm>
          <a:prstGeom prst="line">
            <a:avLst/>
          </a:prstGeom>
          <a:noFill/>
          <a:ln w="13716">
            <a:solidFill>
              <a:srgbClr val="DCD3E3"/>
            </a:solidFill>
            <a:prstDash val="solid"/>
          </a:ln>
        </p:spPr>
      </p:sp>
      <p:sp>
        <p:nvSpPr>
          <p:cNvPr id="8" name="Text 6">
            <a:hlinkClick r:id="rId1" tooltip=""/>
          </p:cNvPr>
          <p:cNvSpPr/>
          <p:nvPr/>
        </p:nvSpPr>
        <p:spPr>
          <a:xfrm>
            <a:off x="731520" y="7662672"/>
            <a:ext cx="12070080" cy="192756"/>
          </a:xfrm>
          <a:prstGeom prst="rect">
            <a:avLst/>
          </a:prstGeom>
          <a:noFill/>
          <a:ln/>
        </p:spPr>
        <p:txBody>
          <a:bodyPr wrap="none" lIns="0" tIns="0" rIns="0" bIns="0" rtlCol="0" anchor="t"/>
          <a:lstStyle/>
          <a:p>
            <a:pPr algn="l" indent="0" marL="0">
              <a:buNone/>
            </a:pPr>
            <a:r>
              <a:rPr lang="es-PE" altLang="en-US" sz="1224" u="sng" dirty="0">
                <a:solidFill>
                  <a:srgbClr val="71677B"/>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Qiskit: circuitos y simulación · control adaptativo clásico · oráculo idealizado con costes precalculados.</a:t>
            </a:r>
            <a:endParaRPr lang="es-PE" sz="1224" dirty="0"/>
          </a:p>
        </p:txBody>
      </p:sp>
      <p:sp>
        <p:nvSpPr>
          <p:cNvPr id="9" name="Text 7"/>
          <p:cNvSpPr/>
          <p:nvPr/>
        </p:nvSpPr>
        <p:spPr>
          <a:xfrm>
            <a:off x="12893040" y="7662672"/>
            <a:ext cx="1005840" cy="192756"/>
          </a:xfrm>
          <a:prstGeom prst="rect">
            <a:avLst/>
          </a:prstGeom>
          <a:noFill/>
          <a:ln/>
        </p:spPr>
        <p:txBody>
          <a:bodyPr wrap="none" lIns="0" tIns="0" rIns="0" bIns="0" rtlCol="0" anchor="t"/>
          <a:lstStyle/>
          <a:p>
            <a:pPr algn="r" indent="0" marL="0">
              <a:buNone/>
            </a:pPr>
            <a:r>
              <a:rPr lang="es-PE" altLang="en-US" sz="1224" b="1" dirty="0">
                <a:solidFill>
                  <a:srgbClr val="71677B"/>
                </a:solidFill>
                <a:latin typeface="Arial" pitchFamily="34" charset="0"/>
                <a:ea typeface="Arial" pitchFamily="34" charset="-122"/>
                <a:cs typeface="Arial" pitchFamily="34" charset="-120"/>
              </a:rPr>
              <a:t>03 / 06</a:t>
            </a:r>
            <a:endParaRPr lang="es-PE" sz="1224" dirty="0"/>
          </a:p>
        </p:txBody>
      </p:sp>
      <p:sp>
        <p:nvSpPr>
          <p:cNvPr id="10" name="Text 8"/>
          <p:cNvSpPr/>
          <p:nvPr/>
        </p:nvSpPr>
        <p:spPr>
          <a:xfrm>
            <a:off x="731520" y="1271016"/>
            <a:ext cx="13258800" cy="623621"/>
          </a:xfrm>
          <a:prstGeom prst="rect">
            <a:avLst/>
          </a:prstGeom>
          <a:noFill/>
          <a:ln/>
        </p:spPr>
        <p:txBody>
          <a:bodyPr wrap="none" lIns="0" tIns="0" rIns="0" bIns="0" rtlCol="0" anchor="t"/>
          <a:lstStyle/>
          <a:p>
            <a:pPr algn="l" indent="0" marL="0">
              <a:buNone/>
            </a:pPr>
            <a:r>
              <a:rPr lang="es-PE" altLang="en-US" sz="3960" b="1" dirty="0">
                <a:solidFill>
                  <a:srgbClr val="27163F"/>
                </a:solidFill>
                <a:latin typeface="Arial" pitchFamily="34" charset="0"/>
                <a:ea typeface="Arial" pitchFamily="34" charset="-122"/>
                <a:cs typeface="Arial" pitchFamily="34" charset="-120"/>
              </a:rPr>
              <a:t>Grover explora asignaciones completas</a:t>
            </a:r>
            <a:endParaRPr lang="es-PE" sz="3960" dirty="0"/>
          </a:p>
        </p:txBody>
      </p:sp>
      <p:sp>
        <p:nvSpPr>
          <p:cNvPr id="11" name="Text 9"/>
          <p:cNvSpPr/>
          <p:nvPr/>
        </p:nvSpPr>
        <p:spPr>
          <a:xfrm>
            <a:off x="749808" y="1965960"/>
            <a:ext cx="12984480" cy="294803"/>
          </a:xfrm>
          <a:prstGeom prst="rect">
            <a:avLst/>
          </a:prstGeom>
          <a:noFill/>
          <a:ln/>
        </p:spPr>
        <p:txBody>
          <a:bodyPr wrap="none" lIns="0" tIns="0" rIns="0" bIns="0" rtlCol="0" anchor="t"/>
          <a:lstStyle/>
          <a:p>
            <a:pPr algn="l" indent="0" marL="0">
              <a:buNone/>
            </a:pPr>
            <a:r>
              <a:rPr lang="es-PE" altLang="en-US" sz="1872" dirty="0">
                <a:solidFill>
                  <a:srgbClr val="71677B"/>
                </a:solidFill>
                <a:latin typeface="Arial" pitchFamily="34" charset="0"/>
                <a:ea typeface="Arial" pitchFamily="34" charset="-122"/>
                <a:cs typeface="Arial" pitchFamily="34" charset="-120"/>
              </a:rPr>
              <a:t>Búsqueda adaptativa: conservar, amplificar y volver a comparar.</a:t>
            </a:r>
            <a:endParaRPr lang="es-PE" sz="1872" dirty="0"/>
          </a:p>
        </p:txBody>
      </p:sp>
      <p:sp>
        <p:nvSpPr>
          <p:cNvPr id="12" name="Shape 10"/>
          <p:cNvSpPr/>
          <p:nvPr/>
        </p:nvSpPr>
        <p:spPr>
          <a:xfrm>
            <a:off x="731520" y="2834640"/>
            <a:ext cx="2340864" cy="1591056"/>
          </a:xfrm>
          <a:prstGeom prst="rect">
            <a:avLst/>
          </a:prstGeom>
          <a:solidFill>
            <a:srgbClr val="27163F"/>
          </a:solidFill>
          <a:ln w="12700">
            <a:solidFill>
              <a:srgbClr val="27163F">
                <a:alpha val="0"/>
              </a:srgbClr>
            </a:solidFill>
            <a:prstDash val="solid"/>
          </a:ln>
        </p:spPr>
      </p:sp>
      <p:sp>
        <p:nvSpPr>
          <p:cNvPr id="13" name="Text 11"/>
          <p:cNvSpPr/>
          <p:nvPr/>
        </p:nvSpPr>
        <p:spPr>
          <a:xfrm>
            <a:off x="905256" y="3072384"/>
            <a:ext cx="2011680" cy="306141"/>
          </a:xfrm>
          <a:prstGeom prst="rect">
            <a:avLst/>
          </a:prstGeom>
          <a:noFill/>
          <a:ln/>
        </p:spPr>
        <p:txBody>
          <a:bodyPr wrap="none" lIns="0" tIns="0" rIns="0" bIns="0" rtlCol="0" anchor="t"/>
          <a:lstStyle/>
          <a:p>
            <a:pPr algn="l" indent="0" marL="0">
              <a:buNone/>
            </a:pPr>
            <a:r>
              <a:rPr lang="es-PE" altLang="en-US" sz="1944" b="1" dirty="0">
                <a:solidFill>
                  <a:srgbClr val="F8F4ED"/>
                </a:solidFill>
                <a:latin typeface="Arial" pitchFamily="34" charset="0"/>
                <a:ea typeface="Arial" pitchFamily="34" charset="-122"/>
                <a:cs typeface="Arial" pitchFamily="34" charset="-120"/>
              </a:rPr>
              <a:t>Umbral</a:t>
            </a:r>
            <a:endParaRPr lang="es-PE" sz="1944" dirty="0"/>
          </a:p>
        </p:txBody>
      </p:sp>
      <p:sp>
        <p:nvSpPr>
          <p:cNvPr id="14" name="Text 12"/>
          <p:cNvSpPr/>
          <p:nvPr/>
        </p:nvSpPr>
        <p:spPr>
          <a:xfrm>
            <a:off x="905256" y="3593592"/>
            <a:ext cx="2011680" cy="238110"/>
          </a:xfrm>
          <a:prstGeom prst="rect">
            <a:avLst/>
          </a:prstGeom>
          <a:noFill/>
          <a:ln/>
        </p:spPr>
        <p:txBody>
          <a:bodyPr wrap="none" lIns="0" tIns="0" rIns="0" bIns="0" rtlCol="0" anchor="t"/>
          <a:lstStyle/>
          <a:p>
            <a:pPr algn="l" indent="0" marL="0">
              <a:buNone/>
            </a:pPr>
            <a:r>
              <a:rPr lang="es-PE" altLang="en-US" sz="1512" dirty="0">
                <a:solidFill>
                  <a:srgbClr val="F8F4ED"/>
                </a:solidFill>
                <a:latin typeface="Arial" pitchFamily="34" charset="0"/>
                <a:ea typeface="Arial" pitchFamily="34" charset="-122"/>
                <a:cs typeface="Arial" pitchFamily="34" charset="-120"/>
              </a:rPr>
              <a:t>Mejor coste</a:t>
            </a:r>
            <a:endParaRPr lang="es-PE" sz="1512" dirty="0"/>
          </a:p>
        </p:txBody>
      </p:sp>
      <p:sp>
        <p:nvSpPr>
          <p:cNvPr id="15" name="Text 13"/>
          <p:cNvSpPr/>
          <p:nvPr/>
        </p:nvSpPr>
        <p:spPr>
          <a:xfrm>
            <a:off x="905256" y="3843223"/>
            <a:ext cx="2011680" cy="238110"/>
          </a:xfrm>
          <a:prstGeom prst="rect">
            <a:avLst/>
          </a:prstGeom>
          <a:noFill/>
          <a:ln/>
        </p:spPr>
        <p:txBody>
          <a:bodyPr wrap="none" lIns="0" tIns="0" rIns="0" bIns="0" rtlCol="0" anchor="t"/>
          <a:lstStyle/>
          <a:p>
            <a:pPr algn="l" indent="0" marL="0">
              <a:buNone/>
            </a:pPr>
            <a:r>
              <a:rPr lang="es-PE" altLang="en-US" sz="1512" dirty="0">
                <a:solidFill>
                  <a:srgbClr val="F8F4ED"/>
                </a:solidFill>
                <a:latin typeface="Arial" pitchFamily="34" charset="0"/>
                <a:ea typeface="Arial" pitchFamily="34" charset="-122"/>
                <a:cs typeface="Arial" pitchFamily="34" charset="-120"/>
              </a:rPr>
              <a:t>conocido</a:t>
            </a:r>
            <a:endParaRPr lang="es-PE" sz="1512" dirty="0"/>
          </a:p>
        </p:txBody>
      </p:sp>
      <p:sp>
        <p:nvSpPr>
          <p:cNvPr id="16" name="Shape 14"/>
          <p:cNvSpPr/>
          <p:nvPr/>
        </p:nvSpPr>
        <p:spPr>
          <a:xfrm>
            <a:off x="3136392" y="3630168"/>
            <a:ext cx="210312" cy="0"/>
          </a:xfrm>
          <a:prstGeom prst="line">
            <a:avLst/>
          </a:prstGeom>
          <a:noFill/>
          <a:ln w="27432">
            <a:solidFill>
              <a:srgbClr val="6948AD"/>
            </a:solidFill>
            <a:prstDash val="solid"/>
            <a:tailEnd type="triangle"/>
          </a:ln>
        </p:spPr>
      </p:sp>
      <p:sp>
        <p:nvSpPr>
          <p:cNvPr id="17" name="Shape 15"/>
          <p:cNvSpPr/>
          <p:nvPr/>
        </p:nvSpPr>
        <p:spPr>
          <a:xfrm>
            <a:off x="3438144" y="2834640"/>
            <a:ext cx="2340864" cy="1591056"/>
          </a:xfrm>
          <a:prstGeom prst="rect">
            <a:avLst/>
          </a:prstGeom>
          <a:solidFill>
            <a:srgbClr val="EDE5F4"/>
          </a:solidFill>
          <a:ln w="12700">
            <a:solidFill>
              <a:srgbClr val="EDE5F4">
                <a:alpha val="0"/>
              </a:srgbClr>
            </a:solidFill>
            <a:prstDash val="solid"/>
          </a:ln>
        </p:spPr>
      </p:sp>
      <p:sp>
        <p:nvSpPr>
          <p:cNvPr id="18" name="Text 16"/>
          <p:cNvSpPr/>
          <p:nvPr/>
        </p:nvSpPr>
        <p:spPr>
          <a:xfrm>
            <a:off x="3611880" y="3072384"/>
            <a:ext cx="2011680" cy="306141"/>
          </a:xfrm>
          <a:prstGeom prst="rect">
            <a:avLst/>
          </a:prstGeom>
          <a:noFill/>
          <a:ln/>
        </p:spPr>
        <p:txBody>
          <a:bodyPr wrap="none" lIns="0" tIns="0" rIns="0" bIns="0" rtlCol="0" anchor="t"/>
          <a:lstStyle/>
          <a:p>
            <a:pPr algn="l" indent="0" marL="0">
              <a:buNone/>
            </a:pPr>
            <a:r>
              <a:rPr lang="es-PE" altLang="en-US" sz="1944" b="1" dirty="0">
                <a:solidFill>
                  <a:srgbClr val="27163F"/>
                </a:solidFill>
                <a:latin typeface="Arial" pitchFamily="34" charset="0"/>
                <a:ea typeface="Arial" pitchFamily="34" charset="-122"/>
                <a:cs typeface="Arial" pitchFamily="34" charset="-120"/>
              </a:rPr>
              <a:t>Superposición</a:t>
            </a:r>
            <a:endParaRPr lang="es-PE" sz="1944" dirty="0"/>
          </a:p>
        </p:txBody>
      </p:sp>
      <p:sp>
        <p:nvSpPr>
          <p:cNvPr id="19" name="Text 17"/>
          <p:cNvSpPr/>
          <p:nvPr/>
        </p:nvSpPr>
        <p:spPr>
          <a:xfrm>
            <a:off x="3611880" y="3593592"/>
            <a:ext cx="2011680" cy="238110"/>
          </a:xfrm>
          <a:prstGeom prst="rect">
            <a:avLst/>
          </a:prstGeom>
          <a:noFill/>
          <a:ln/>
        </p:spPr>
        <p:txBody>
          <a:bodyPr wrap="none" lIns="0" tIns="0" rIns="0" bIns="0" rtlCol="0" anchor="t"/>
          <a:lstStyle/>
          <a:p>
            <a:pPr algn="l" indent="0" marL="0">
              <a:buNone/>
            </a:pPr>
            <a:r>
              <a:rPr lang="es-PE" altLang="en-US" sz="1512" dirty="0">
                <a:solidFill>
                  <a:srgbClr val="71677B"/>
                </a:solidFill>
                <a:latin typeface="Arial" pitchFamily="34" charset="0"/>
                <a:ea typeface="Arial" pitchFamily="34" charset="-122"/>
                <a:cs typeface="Arial" pitchFamily="34" charset="-120"/>
              </a:rPr>
              <a:t>Índices en un</a:t>
            </a:r>
            <a:endParaRPr lang="es-PE" sz="1512" dirty="0"/>
          </a:p>
        </p:txBody>
      </p:sp>
      <p:sp>
        <p:nvSpPr>
          <p:cNvPr id="20" name="Text 18"/>
          <p:cNvSpPr/>
          <p:nvPr/>
        </p:nvSpPr>
        <p:spPr>
          <a:xfrm>
            <a:off x="3611880" y="3843223"/>
            <a:ext cx="2011680" cy="238110"/>
          </a:xfrm>
          <a:prstGeom prst="rect">
            <a:avLst/>
          </a:prstGeom>
          <a:noFill/>
          <a:ln/>
        </p:spPr>
        <p:txBody>
          <a:bodyPr wrap="none" lIns="0" tIns="0" rIns="0" bIns="0" rtlCol="0" anchor="t"/>
          <a:lstStyle/>
          <a:p>
            <a:pPr algn="l" indent="0" marL="0">
              <a:buNone/>
            </a:pPr>
            <a:r>
              <a:rPr lang="es-PE" altLang="en-US" sz="1512" dirty="0">
                <a:solidFill>
                  <a:srgbClr val="71677B"/>
                </a:solidFill>
                <a:latin typeface="Arial" pitchFamily="34" charset="0"/>
                <a:ea typeface="Arial" pitchFamily="34" charset="-122"/>
                <a:cs typeface="Arial" pitchFamily="34" charset="-120"/>
              </a:rPr>
              <a:t>registro cuántico</a:t>
            </a:r>
            <a:endParaRPr lang="es-PE" sz="1512" dirty="0"/>
          </a:p>
        </p:txBody>
      </p:sp>
      <p:sp>
        <p:nvSpPr>
          <p:cNvPr id="21" name="Shape 19"/>
          <p:cNvSpPr/>
          <p:nvPr/>
        </p:nvSpPr>
        <p:spPr>
          <a:xfrm>
            <a:off x="5843016" y="3630168"/>
            <a:ext cx="210312" cy="0"/>
          </a:xfrm>
          <a:prstGeom prst="line">
            <a:avLst/>
          </a:prstGeom>
          <a:noFill/>
          <a:ln w="27432">
            <a:solidFill>
              <a:srgbClr val="6948AD"/>
            </a:solidFill>
            <a:prstDash val="solid"/>
            <a:tailEnd type="triangle"/>
          </a:ln>
        </p:spPr>
      </p:sp>
      <p:sp>
        <p:nvSpPr>
          <p:cNvPr id="22" name="Shape 20"/>
          <p:cNvSpPr/>
          <p:nvPr/>
        </p:nvSpPr>
        <p:spPr>
          <a:xfrm>
            <a:off x="6144768" y="2834640"/>
            <a:ext cx="2340864" cy="1591056"/>
          </a:xfrm>
          <a:prstGeom prst="rect">
            <a:avLst/>
          </a:prstGeom>
          <a:solidFill>
            <a:srgbClr val="6948AD"/>
          </a:solidFill>
          <a:ln w="12700">
            <a:solidFill>
              <a:srgbClr val="6948AD">
                <a:alpha val="0"/>
              </a:srgbClr>
            </a:solidFill>
            <a:prstDash val="solid"/>
          </a:ln>
        </p:spPr>
      </p:sp>
      <p:sp>
        <p:nvSpPr>
          <p:cNvPr id="23" name="Text 21"/>
          <p:cNvSpPr/>
          <p:nvPr/>
        </p:nvSpPr>
        <p:spPr>
          <a:xfrm>
            <a:off x="6318504" y="3072384"/>
            <a:ext cx="2011680" cy="306141"/>
          </a:xfrm>
          <a:prstGeom prst="rect">
            <a:avLst/>
          </a:prstGeom>
          <a:noFill/>
          <a:ln/>
        </p:spPr>
        <p:txBody>
          <a:bodyPr wrap="none" lIns="0" tIns="0" rIns="0" bIns="0" rtlCol="0" anchor="t"/>
          <a:lstStyle/>
          <a:p>
            <a:pPr algn="l" indent="0" marL="0">
              <a:buNone/>
            </a:pPr>
            <a:r>
              <a:rPr lang="es-PE" altLang="en-US" sz="1944" b="1" dirty="0">
                <a:solidFill>
                  <a:srgbClr val="F8F4ED"/>
                </a:solidFill>
                <a:latin typeface="Arial" pitchFamily="34" charset="0"/>
                <a:ea typeface="Arial" pitchFamily="34" charset="-122"/>
                <a:cs typeface="Arial" pitchFamily="34" charset="-120"/>
              </a:rPr>
              <a:t>Oráculo</a:t>
            </a:r>
            <a:endParaRPr lang="es-PE" sz="1944" dirty="0"/>
          </a:p>
        </p:txBody>
      </p:sp>
      <p:sp>
        <p:nvSpPr>
          <p:cNvPr id="24" name="Text 22"/>
          <p:cNvSpPr/>
          <p:nvPr/>
        </p:nvSpPr>
        <p:spPr>
          <a:xfrm>
            <a:off x="6318504" y="3593592"/>
            <a:ext cx="2011680" cy="238110"/>
          </a:xfrm>
          <a:prstGeom prst="rect">
            <a:avLst/>
          </a:prstGeom>
          <a:noFill/>
          <a:ln/>
        </p:spPr>
        <p:txBody>
          <a:bodyPr wrap="none" lIns="0" tIns="0" rIns="0" bIns="0" rtlCol="0" anchor="t"/>
          <a:lstStyle/>
          <a:p>
            <a:pPr algn="l" indent="0" marL="0">
              <a:buNone/>
            </a:pPr>
            <a:r>
              <a:rPr lang="es-PE" altLang="en-US" sz="1512" dirty="0">
                <a:solidFill>
                  <a:srgbClr val="F8F4ED"/>
                </a:solidFill>
                <a:latin typeface="Arial" pitchFamily="34" charset="0"/>
                <a:ea typeface="Arial" pitchFamily="34" charset="-122"/>
                <a:cs typeface="Arial" pitchFamily="34" charset="-120"/>
              </a:rPr>
              <a:t>Marca alternativas</a:t>
            </a:r>
            <a:endParaRPr lang="es-PE" sz="1512" dirty="0"/>
          </a:p>
        </p:txBody>
      </p:sp>
      <p:sp>
        <p:nvSpPr>
          <p:cNvPr id="25" name="Text 23"/>
          <p:cNvSpPr/>
          <p:nvPr/>
        </p:nvSpPr>
        <p:spPr>
          <a:xfrm>
            <a:off x="6318504" y="3843223"/>
            <a:ext cx="2011680" cy="238110"/>
          </a:xfrm>
          <a:prstGeom prst="rect">
            <a:avLst/>
          </a:prstGeom>
          <a:noFill/>
          <a:ln/>
        </p:spPr>
        <p:txBody>
          <a:bodyPr wrap="none" lIns="0" tIns="0" rIns="0" bIns="0" rtlCol="0" anchor="t"/>
          <a:lstStyle/>
          <a:p>
            <a:pPr algn="l" indent="0" marL="0">
              <a:buNone/>
            </a:pPr>
            <a:r>
              <a:rPr lang="es-PE" altLang="en-US" sz="1512" dirty="0">
                <a:solidFill>
                  <a:srgbClr val="F8F4ED"/>
                </a:solidFill>
                <a:latin typeface="Arial" pitchFamily="34" charset="0"/>
                <a:ea typeface="Arial" pitchFamily="34" charset="-122"/>
                <a:cs typeface="Arial" pitchFamily="34" charset="-120"/>
              </a:rPr>
              <a:t>de menor coste</a:t>
            </a:r>
            <a:endParaRPr lang="es-PE" sz="1512" dirty="0"/>
          </a:p>
        </p:txBody>
      </p:sp>
      <p:sp>
        <p:nvSpPr>
          <p:cNvPr id="26" name="Shape 24"/>
          <p:cNvSpPr/>
          <p:nvPr/>
        </p:nvSpPr>
        <p:spPr>
          <a:xfrm>
            <a:off x="8549640" y="3630168"/>
            <a:ext cx="210312" cy="0"/>
          </a:xfrm>
          <a:prstGeom prst="line">
            <a:avLst/>
          </a:prstGeom>
          <a:noFill/>
          <a:ln w="27432">
            <a:solidFill>
              <a:srgbClr val="6948AD"/>
            </a:solidFill>
            <a:prstDash val="solid"/>
            <a:tailEnd type="triangle"/>
          </a:ln>
        </p:spPr>
      </p:sp>
      <p:sp>
        <p:nvSpPr>
          <p:cNvPr id="27" name="Shape 25"/>
          <p:cNvSpPr/>
          <p:nvPr/>
        </p:nvSpPr>
        <p:spPr>
          <a:xfrm>
            <a:off x="8851392" y="2834640"/>
            <a:ext cx="2340864" cy="1591056"/>
          </a:xfrm>
          <a:prstGeom prst="rect">
            <a:avLst/>
          </a:prstGeom>
          <a:solidFill>
            <a:srgbClr val="EDE5F4"/>
          </a:solidFill>
          <a:ln w="12700">
            <a:solidFill>
              <a:srgbClr val="EDE5F4">
                <a:alpha val="0"/>
              </a:srgbClr>
            </a:solidFill>
            <a:prstDash val="solid"/>
          </a:ln>
        </p:spPr>
      </p:sp>
      <p:sp>
        <p:nvSpPr>
          <p:cNvPr id="28" name="Text 26"/>
          <p:cNvSpPr/>
          <p:nvPr/>
        </p:nvSpPr>
        <p:spPr>
          <a:xfrm>
            <a:off x="9025128" y="3072384"/>
            <a:ext cx="2011680" cy="306141"/>
          </a:xfrm>
          <a:prstGeom prst="rect">
            <a:avLst/>
          </a:prstGeom>
          <a:noFill/>
          <a:ln/>
        </p:spPr>
        <p:txBody>
          <a:bodyPr wrap="none" lIns="0" tIns="0" rIns="0" bIns="0" rtlCol="0" anchor="t"/>
          <a:lstStyle/>
          <a:p>
            <a:pPr algn="l" indent="0" marL="0">
              <a:buNone/>
            </a:pPr>
            <a:r>
              <a:rPr lang="es-PE" altLang="en-US" sz="1944" b="1" dirty="0">
                <a:solidFill>
                  <a:srgbClr val="27163F"/>
                </a:solidFill>
                <a:latin typeface="Arial" pitchFamily="34" charset="0"/>
                <a:ea typeface="Arial" pitchFamily="34" charset="-122"/>
                <a:cs typeface="Arial" pitchFamily="34" charset="-120"/>
              </a:rPr>
              <a:t>Difusión</a:t>
            </a:r>
            <a:endParaRPr lang="es-PE" sz="1944" dirty="0"/>
          </a:p>
        </p:txBody>
      </p:sp>
      <p:sp>
        <p:nvSpPr>
          <p:cNvPr id="29" name="Text 27"/>
          <p:cNvSpPr/>
          <p:nvPr/>
        </p:nvSpPr>
        <p:spPr>
          <a:xfrm>
            <a:off x="9025128" y="3593592"/>
            <a:ext cx="2011680" cy="238110"/>
          </a:xfrm>
          <a:prstGeom prst="rect">
            <a:avLst/>
          </a:prstGeom>
          <a:noFill/>
          <a:ln/>
        </p:spPr>
        <p:txBody>
          <a:bodyPr wrap="none" lIns="0" tIns="0" rIns="0" bIns="0" rtlCol="0" anchor="t"/>
          <a:lstStyle/>
          <a:p>
            <a:pPr algn="l" indent="0" marL="0">
              <a:buNone/>
            </a:pPr>
            <a:r>
              <a:rPr lang="es-PE" altLang="en-US" sz="1512" dirty="0">
                <a:solidFill>
                  <a:srgbClr val="71677B"/>
                </a:solidFill>
                <a:latin typeface="Arial" pitchFamily="34" charset="0"/>
                <a:ea typeface="Arial" pitchFamily="34" charset="-122"/>
                <a:cs typeface="Arial" pitchFamily="34" charset="-120"/>
              </a:rPr>
              <a:t>Amplifica los</a:t>
            </a:r>
            <a:endParaRPr lang="es-PE" sz="1512" dirty="0"/>
          </a:p>
        </p:txBody>
      </p:sp>
      <p:sp>
        <p:nvSpPr>
          <p:cNvPr id="30" name="Text 28"/>
          <p:cNvSpPr/>
          <p:nvPr/>
        </p:nvSpPr>
        <p:spPr>
          <a:xfrm>
            <a:off x="9025128" y="3843223"/>
            <a:ext cx="2011680" cy="238110"/>
          </a:xfrm>
          <a:prstGeom prst="rect">
            <a:avLst/>
          </a:prstGeom>
          <a:noFill/>
          <a:ln/>
        </p:spPr>
        <p:txBody>
          <a:bodyPr wrap="none" lIns="0" tIns="0" rIns="0" bIns="0" rtlCol="0" anchor="t"/>
          <a:lstStyle/>
          <a:p>
            <a:pPr algn="l" indent="0" marL="0">
              <a:buNone/>
            </a:pPr>
            <a:r>
              <a:rPr lang="es-PE" altLang="en-US" sz="1512" dirty="0">
                <a:solidFill>
                  <a:srgbClr val="71677B"/>
                </a:solidFill>
                <a:latin typeface="Arial" pitchFamily="34" charset="0"/>
                <a:ea typeface="Arial" pitchFamily="34" charset="-122"/>
                <a:cs typeface="Arial" pitchFamily="34" charset="-120"/>
              </a:rPr>
              <a:t>estados marcados</a:t>
            </a:r>
            <a:endParaRPr lang="es-PE" sz="1512" dirty="0"/>
          </a:p>
        </p:txBody>
      </p:sp>
      <p:sp>
        <p:nvSpPr>
          <p:cNvPr id="31" name="Shape 29"/>
          <p:cNvSpPr/>
          <p:nvPr/>
        </p:nvSpPr>
        <p:spPr>
          <a:xfrm>
            <a:off x="11256264" y="3630168"/>
            <a:ext cx="210312" cy="0"/>
          </a:xfrm>
          <a:prstGeom prst="line">
            <a:avLst/>
          </a:prstGeom>
          <a:noFill/>
          <a:ln w="27432">
            <a:solidFill>
              <a:srgbClr val="6948AD"/>
            </a:solidFill>
            <a:prstDash val="solid"/>
            <a:tailEnd type="triangle"/>
          </a:ln>
        </p:spPr>
      </p:sp>
      <p:sp>
        <p:nvSpPr>
          <p:cNvPr id="32" name="Shape 30"/>
          <p:cNvSpPr/>
          <p:nvPr/>
        </p:nvSpPr>
        <p:spPr>
          <a:xfrm>
            <a:off x="11558016" y="2834640"/>
            <a:ext cx="2340864" cy="1591056"/>
          </a:xfrm>
          <a:prstGeom prst="rect">
            <a:avLst/>
          </a:prstGeom>
          <a:solidFill>
            <a:srgbClr val="EDE5F4"/>
          </a:solidFill>
          <a:ln w="12700">
            <a:solidFill>
              <a:srgbClr val="EDE5F4">
                <a:alpha val="0"/>
              </a:srgbClr>
            </a:solidFill>
            <a:prstDash val="solid"/>
          </a:ln>
        </p:spPr>
      </p:sp>
      <p:sp>
        <p:nvSpPr>
          <p:cNvPr id="33" name="Text 31"/>
          <p:cNvSpPr/>
          <p:nvPr/>
        </p:nvSpPr>
        <p:spPr>
          <a:xfrm>
            <a:off x="11731752" y="3072384"/>
            <a:ext cx="2011680" cy="306141"/>
          </a:xfrm>
          <a:prstGeom prst="rect">
            <a:avLst/>
          </a:prstGeom>
          <a:noFill/>
          <a:ln/>
        </p:spPr>
        <p:txBody>
          <a:bodyPr wrap="none" lIns="0" tIns="0" rIns="0" bIns="0" rtlCol="0" anchor="t"/>
          <a:lstStyle/>
          <a:p>
            <a:pPr algn="l" indent="0" marL="0">
              <a:buNone/>
            </a:pPr>
            <a:r>
              <a:rPr lang="es-PE" altLang="en-US" sz="1944" b="1" dirty="0">
                <a:solidFill>
                  <a:srgbClr val="27163F"/>
                </a:solidFill>
                <a:latin typeface="Arial" pitchFamily="34" charset="0"/>
                <a:ea typeface="Arial" pitchFamily="34" charset="-122"/>
                <a:cs typeface="Arial" pitchFamily="34" charset="-120"/>
              </a:rPr>
              <a:t>Medición</a:t>
            </a:r>
            <a:endParaRPr lang="es-PE" sz="1944" dirty="0"/>
          </a:p>
        </p:txBody>
      </p:sp>
      <p:sp>
        <p:nvSpPr>
          <p:cNvPr id="34" name="Text 32"/>
          <p:cNvSpPr/>
          <p:nvPr/>
        </p:nvSpPr>
        <p:spPr>
          <a:xfrm>
            <a:off x="11731752" y="3593592"/>
            <a:ext cx="2011680" cy="238110"/>
          </a:xfrm>
          <a:prstGeom prst="rect">
            <a:avLst/>
          </a:prstGeom>
          <a:noFill/>
          <a:ln/>
        </p:spPr>
        <p:txBody>
          <a:bodyPr wrap="none" lIns="0" tIns="0" rIns="0" bIns="0" rtlCol="0" anchor="t"/>
          <a:lstStyle/>
          <a:p>
            <a:pPr algn="l" indent="0" marL="0">
              <a:buNone/>
            </a:pPr>
            <a:r>
              <a:rPr lang="es-PE" altLang="en-US" sz="1512" dirty="0">
                <a:solidFill>
                  <a:srgbClr val="71677B"/>
                </a:solidFill>
                <a:latin typeface="Arial" pitchFamily="34" charset="0"/>
                <a:ea typeface="Arial" pitchFamily="34" charset="-122"/>
                <a:cs typeface="Arial" pitchFamily="34" charset="-120"/>
              </a:rPr>
              <a:t>Obtiene otro</a:t>
            </a:r>
            <a:endParaRPr lang="es-PE" sz="1512" dirty="0"/>
          </a:p>
        </p:txBody>
      </p:sp>
      <p:sp>
        <p:nvSpPr>
          <p:cNvPr id="35" name="Text 33"/>
          <p:cNvSpPr/>
          <p:nvPr/>
        </p:nvSpPr>
        <p:spPr>
          <a:xfrm>
            <a:off x="11731752" y="3843223"/>
            <a:ext cx="2011680" cy="238110"/>
          </a:xfrm>
          <a:prstGeom prst="rect">
            <a:avLst/>
          </a:prstGeom>
          <a:noFill/>
          <a:ln/>
        </p:spPr>
        <p:txBody>
          <a:bodyPr wrap="none" lIns="0" tIns="0" rIns="0" bIns="0" rtlCol="0" anchor="t"/>
          <a:lstStyle/>
          <a:p>
            <a:pPr algn="l" indent="0" marL="0">
              <a:buNone/>
            </a:pPr>
            <a:r>
              <a:rPr lang="es-PE" altLang="en-US" sz="1512" dirty="0">
                <a:solidFill>
                  <a:srgbClr val="71677B"/>
                </a:solidFill>
                <a:latin typeface="Arial" pitchFamily="34" charset="0"/>
                <a:ea typeface="Arial" pitchFamily="34" charset="-122"/>
                <a:cs typeface="Arial" pitchFamily="34" charset="-120"/>
              </a:rPr>
              <a:t>candidato</a:t>
            </a:r>
            <a:endParaRPr lang="es-PE" sz="1512" dirty="0"/>
          </a:p>
        </p:txBody>
      </p:sp>
      <p:sp>
        <p:nvSpPr>
          <p:cNvPr id="36" name="Shape 34"/>
          <p:cNvSpPr/>
          <p:nvPr/>
        </p:nvSpPr>
        <p:spPr>
          <a:xfrm>
            <a:off x="12710160" y="4562856"/>
            <a:ext cx="0" cy="329184"/>
          </a:xfrm>
          <a:prstGeom prst="line">
            <a:avLst/>
          </a:prstGeom>
          <a:noFill/>
          <a:ln w="18288">
            <a:solidFill>
              <a:srgbClr val="6948AD"/>
            </a:solidFill>
            <a:prstDash val="solid"/>
          </a:ln>
        </p:spPr>
      </p:sp>
      <p:sp>
        <p:nvSpPr>
          <p:cNvPr id="37" name="Shape 35"/>
          <p:cNvSpPr/>
          <p:nvPr/>
        </p:nvSpPr>
        <p:spPr>
          <a:xfrm flipH="1">
            <a:off x="1901952" y="4892040"/>
            <a:ext cx="10808208" cy="0"/>
          </a:xfrm>
          <a:prstGeom prst="line">
            <a:avLst/>
          </a:prstGeom>
          <a:noFill/>
          <a:ln w="18288">
            <a:solidFill>
              <a:srgbClr val="6948AD"/>
            </a:solidFill>
            <a:prstDash val="solid"/>
          </a:ln>
        </p:spPr>
      </p:sp>
      <p:sp>
        <p:nvSpPr>
          <p:cNvPr id="38" name="Shape 36"/>
          <p:cNvSpPr/>
          <p:nvPr/>
        </p:nvSpPr>
        <p:spPr>
          <a:xfrm flipV="1">
            <a:off x="1901952" y="4572000"/>
            <a:ext cx="0" cy="320040"/>
          </a:xfrm>
          <a:prstGeom prst="line">
            <a:avLst/>
          </a:prstGeom>
          <a:noFill/>
          <a:ln w="18288">
            <a:solidFill>
              <a:srgbClr val="6948AD"/>
            </a:solidFill>
            <a:prstDash val="solid"/>
            <a:tailEnd type="triangle"/>
          </a:ln>
        </p:spPr>
      </p:sp>
      <p:sp>
        <p:nvSpPr>
          <p:cNvPr id="39" name="Shape 37"/>
          <p:cNvSpPr/>
          <p:nvPr/>
        </p:nvSpPr>
        <p:spPr>
          <a:xfrm>
            <a:off x="5175504" y="4709160"/>
            <a:ext cx="4114800" cy="356616"/>
          </a:xfrm>
          <a:prstGeom prst="rect">
            <a:avLst/>
          </a:prstGeom>
          <a:solidFill>
            <a:srgbClr val="F8F4ED"/>
          </a:solidFill>
          <a:ln w="12700">
            <a:solidFill>
              <a:srgbClr val="F8F4ED">
                <a:alpha val="0"/>
              </a:srgbClr>
            </a:solidFill>
            <a:prstDash val="solid"/>
          </a:ln>
        </p:spPr>
      </p:sp>
      <p:sp>
        <p:nvSpPr>
          <p:cNvPr id="40" name="Text 38"/>
          <p:cNvSpPr/>
          <p:nvPr/>
        </p:nvSpPr>
        <p:spPr>
          <a:xfrm>
            <a:off x="5184648" y="4764024"/>
            <a:ext cx="4114800" cy="260787"/>
          </a:xfrm>
          <a:prstGeom prst="rect">
            <a:avLst/>
          </a:prstGeom>
          <a:noFill/>
          <a:ln/>
        </p:spPr>
        <p:txBody>
          <a:bodyPr wrap="none" lIns="0" tIns="0" rIns="0" bIns="0" rtlCol="0" anchor="t"/>
          <a:lstStyle/>
          <a:p>
            <a:pPr algn="ctr" indent="0" marL="0">
              <a:buNone/>
            </a:pPr>
            <a:r>
              <a:rPr lang="es-PE" altLang="en-US" sz="1656" b="1" dirty="0">
                <a:solidFill>
                  <a:srgbClr val="6948AD"/>
                </a:solidFill>
                <a:latin typeface="Arial" pitchFamily="34" charset="0"/>
                <a:ea typeface="Arial" pitchFamily="34" charset="-122"/>
                <a:cs typeface="Arial" pitchFamily="34" charset="-120"/>
              </a:rPr>
              <a:t>Si mejora, actualiza el umbral</a:t>
            </a:r>
            <a:endParaRPr lang="es-PE" sz="1656" dirty="0"/>
          </a:p>
        </p:txBody>
      </p:sp>
      <p:sp>
        <p:nvSpPr>
          <p:cNvPr id="41" name="Text 39"/>
          <p:cNvSpPr/>
          <p:nvPr/>
        </p:nvSpPr>
        <p:spPr>
          <a:xfrm>
            <a:off x="822960" y="5458968"/>
            <a:ext cx="2011680" cy="929762"/>
          </a:xfrm>
          <a:prstGeom prst="rect">
            <a:avLst/>
          </a:prstGeom>
          <a:noFill/>
          <a:ln/>
        </p:spPr>
        <p:txBody>
          <a:bodyPr wrap="none" lIns="0" tIns="0" rIns="0" bIns="0" rtlCol="0" anchor="t"/>
          <a:lstStyle/>
          <a:p>
            <a:pPr algn="l" indent="0" marL="0">
              <a:buNone/>
            </a:pPr>
            <a:r>
              <a:rPr lang="es-PE" altLang="en-US" sz="5904" b="1" dirty="0">
                <a:solidFill>
                  <a:srgbClr val="27163F"/>
                </a:solidFill>
                <a:latin typeface="Arial" pitchFamily="34" charset="0"/>
                <a:ea typeface="Arial" pitchFamily="34" charset="-122"/>
                <a:cs typeface="Arial" pitchFamily="34" charset="-120"/>
              </a:rPr>
              <a:t>24</a:t>
            </a:r>
            <a:endParaRPr lang="es-PE" sz="5904" dirty="0"/>
          </a:p>
        </p:txBody>
      </p:sp>
      <p:sp>
        <p:nvSpPr>
          <p:cNvPr id="42" name="Text 40"/>
          <p:cNvSpPr/>
          <p:nvPr/>
        </p:nvSpPr>
        <p:spPr>
          <a:xfrm>
            <a:off x="2743200" y="5678424"/>
            <a:ext cx="2743200" cy="306141"/>
          </a:xfrm>
          <a:prstGeom prst="rect">
            <a:avLst/>
          </a:prstGeom>
          <a:noFill/>
          <a:ln/>
        </p:spPr>
        <p:txBody>
          <a:bodyPr wrap="none" lIns="0" tIns="0" rIns="0" bIns="0" rtlCol="0" anchor="t"/>
          <a:lstStyle/>
          <a:p>
            <a:pPr algn="l" indent="0" marL="0">
              <a:buNone/>
            </a:pPr>
            <a:r>
              <a:rPr lang="es-PE" altLang="en-US" sz="1944" dirty="0">
                <a:solidFill>
                  <a:srgbClr val="71677B"/>
                </a:solidFill>
                <a:latin typeface="Arial" pitchFamily="34" charset="0"/>
                <a:ea typeface="Arial" pitchFamily="34" charset="-122"/>
                <a:cs typeface="Arial" pitchFamily="34" charset="-120"/>
              </a:rPr>
              <a:t>asignaciones</a:t>
            </a:r>
            <a:endParaRPr lang="es-PE" sz="1944" dirty="0"/>
          </a:p>
        </p:txBody>
      </p:sp>
      <p:sp>
        <p:nvSpPr>
          <p:cNvPr id="43" name="Text 41"/>
          <p:cNvSpPr/>
          <p:nvPr/>
        </p:nvSpPr>
        <p:spPr>
          <a:xfrm>
            <a:off x="2743200" y="5974690"/>
            <a:ext cx="2743200" cy="306141"/>
          </a:xfrm>
          <a:prstGeom prst="rect">
            <a:avLst/>
          </a:prstGeom>
          <a:noFill/>
          <a:ln/>
        </p:spPr>
        <p:txBody>
          <a:bodyPr wrap="none" lIns="0" tIns="0" rIns="0" bIns="0" rtlCol="0" anchor="t"/>
          <a:lstStyle/>
          <a:p>
            <a:pPr algn="l" indent="0" marL="0">
              <a:buNone/>
            </a:pPr>
            <a:r>
              <a:rPr lang="es-PE" altLang="en-US" sz="1944" dirty="0">
                <a:solidFill>
                  <a:srgbClr val="71677B"/>
                </a:solidFill>
                <a:latin typeface="Arial" pitchFamily="34" charset="0"/>
                <a:ea typeface="Arial" pitchFamily="34" charset="-122"/>
                <a:cs typeface="Arial" pitchFamily="34" charset="-120"/>
              </a:rPr>
              <a:t>para N = 4</a:t>
            </a:r>
            <a:endParaRPr lang="es-PE" sz="1944" dirty="0"/>
          </a:p>
        </p:txBody>
      </p:sp>
      <p:sp>
        <p:nvSpPr>
          <p:cNvPr id="44" name="Shape 42"/>
          <p:cNvSpPr/>
          <p:nvPr/>
        </p:nvSpPr>
        <p:spPr>
          <a:xfrm>
            <a:off x="5751576" y="5449824"/>
            <a:ext cx="0" cy="1143000"/>
          </a:xfrm>
          <a:prstGeom prst="line">
            <a:avLst/>
          </a:prstGeom>
          <a:noFill/>
          <a:ln w="18288">
            <a:solidFill>
              <a:srgbClr val="DCD3E3"/>
            </a:solidFill>
            <a:prstDash val="solid"/>
          </a:ln>
        </p:spPr>
      </p:sp>
      <p:sp>
        <p:nvSpPr>
          <p:cNvPr id="45" name="Text 43"/>
          <p:cNvSpPr/>
          <p:nvPr/>
        </p:nvSpPr>
        <p:spPr>
          <a:xfrm>
            <a:off x="6291072" y="5458968"/>
            <a:ext cx="1005840" cy="929762"/>
          </a:xfrm>
          <a:prstGeom prst="rect">
            <a:avLst/>
          </a:prstGeom>
          <a:noFill/>
          <a:ln/>
        </p:spPr>
        <p:txBody>
          <a:bodyPr wrap="none" lIns="0" tIns="0" rIns="0" bIns="0" rtlCol="0" anchor="t"/>
          <a:lstStyle/>
          <a:p>
            <a:pPr algn="l" indent="0" marL="0">
              <a:buNone/>
            </a:pPr>
            <a:r>
              <a:rPr lang="es-PE" altLang="en-US" sz="5904" b="1" dirty="0">
                <a:solidFill>
                  <a:srgbClr val="6948AD"/>
                </a:solidFill>
                <a:latin typeface="Arial" pitchFamily="34" charset="0"/>
                <a:ea typeface="Arial" pitchFamily="34" charset="-122"/>
                <a:cs typeface="Arial" pitchFamily="34" charset="-120"/>
              </a:rPr>
              <a:t>5</a:t>
            </a:r>
            <a:endParaRPr lang="es-PE" sz="5904" dirty="0"/>
          </a:p>
        </p:txBody>
      </p:sp>
      <p:sp>
        <p:nvSpPr>
          <p:cNvPr id="46" name="Text 44"/>
          <p:cNvSpPr/>
          <p:nvPr/>
        </p:nvSpPr>
        <p:spPr>
          <a:xfrm>
            <a:off x="7379208" y="5678424"/>
            <a:ext cx="2057400" cy="306141"/>
          </a:xfrm>
          <a:prstGeom prst="rect">
            <a:avLst/>
          </a:prstGeom>
          <a:noFill/>
          <a:ln/>
        </p:spPr>
        <p:txBody>
          <a:bodyPr wrap="none" lIns="0" tIns="0" rIns="0" bIns="0" rtlCol="0" anchor="t"/>
          <a:lstStyle/>
          <a:p>
            <a:pPr algn="l" indent="0" marL="0">
              <a:buNone/>
            </a:pPr>
            <a:r>
              <a:rPr lang="es-PE" altLang="en-US" sz="1944" dirty="0">
                <a:solidFill>
                  <a:srgbClr val="71677B"/>
                </a:solidFill>
                <a:latin typeface="Arial" pitchFamily="34" charset="0"/>
                <a:ea typeface="Arial" pitchFamily="34" charset="-122"/>
                <a:cs typeface="Arial" pitchFamily="34" charset="-120"/>
              </a:rPr>
              <a:t>qubits</a:t>
            </a:r>
            <a:endParaRPr lang="es-PE" sz="1944" dirty="0"/>
          </a:p>
        </p:txBody>
      </p:sp>
      <p:sp>
        <p:nvSpPr>
          <p:cNvPr id="47" name="Text 45"/>
          <p:cNvSpPr/>
          <p:nvPr/>
        </p:nvSpPr>
        <p:spPr>
          <a:xfrm>
            <a:off x="7379208" y="5974690"/>
            <a:ext cx="2057400" cy="306141"/>
          </a:xfrm>
          <a:prstGeom prst="rect">
            <a:avLst/>
          </a:prstGeom>
          <a:noFill/>
          <a:ln/>
        </p:spPr>
        <p:txBody>
          <a:bodyPr wrap="none" lIns="0" tIns="0" rIns="0" bIns="0" rtlCol="0" anchor="t"/>
          <a:lstStyle/>
          <a:p>
            <a:pPr algn="l" indent="0" marL="0">
              <a:buNone/>
            </a:pPr>
            <a:r>
              <a:rPr lang="es-PE" altLang="en-US" sz="1944" dirty="0">
                <a:solidFill>
                  <a:srgbClr val="71677B"/>
                </a:solidFill>
                <a:latin typeface="Arial" pitchFamily="34" charset="0"/>
                <a:ea typeface="Arial" pitchFamily="34" charset="-122"/>
                <a:cs typeface="Arial" pitchFamily="34" charset="-120"/>
              </a:rPr>
              <a:t>de índice</a:t>
            </a:r>
            <a:endParaRPr lang="es-PE" sz="1944" dirty="0"/>
          </a:p>
        </p:txBody>
      </p:sp>
      <p:sp>
        <p:nvSpPr>
          <p:cNvPr id="48" name="Shape 46"/>
          <p:cNvSpPr/>
          <p:nvPr/>
        </p:nvSpPr>
        <p:spPr>
          <a:xfrm>
            <a:off x="9811512" y="5449824"/>
            <a:ext cx="0" cy="1143000"/>
          </a:xfrm>
          <a:prstGeom prst="line">
            <a:avLst/>
          </a:prstGeom>
          <a:noFill/>
          <a:ln w="18288">
            <a:solidFill>
              <a:srgbClr val="DCD3E3"/>
            </a:solidFill>
            <a:prstDash val="solid"/>
          </a:ln>
        </p:spPr>
      </p:sp>
      <p:sp>
        <p:nvSpPr>
          <p:cNvPr id="49" name="Text 47"/>
          <p:cNvSpPr/>
          <p:nvPr/>
        </p:nvSpPr>
        <p:spPr>
          <a:xfrm>
            <a:off x="10369296" y="5458968"/>
            <a:ext cx="1463040" cy="929762"/>
          </a:xfrm>
          <a:prstGeom prst="rect">
            <a:avLst/>
          </a:prstGeom>
          <a:noFill/>
          <a:ln/>
        </p:spPr>
        <p:txBody>
          <a:bodyPr wrap="none" lIns="0" tIns="0" rIns="0" bIns="0" rtlCol="0" anchor="t"/>
          <a:lstStyle/>
          <a:p>
            <a:pPr algn="l" indent="0" marL="0">
              <a:buNone/>
            </a:pPr>
            <a:r>
              <a:rPr lang="es-PE" altLang="en-US" sz="5904" b="1" dirty="0">
                <a:solidFill>
                  <a:srgbClr val="27163F"/>
                </a:solidFill>
                <a:latin typeface="Arial" pitchFamily="34" charset="0"/>
                <a:ea typeface="Arial" pitchFamily="34" charset="-122"/>
                <a:cs typeface="Arial" pitchFamily="34" charset="-120"/>
              </a:rPr>
              <a:t>16</a:t>
            </a:r>
            <a:endParaRPr lang="es-PE" sz="5904" dirty="0"/>
          </a:p>
        </p:txBody>
      </p:sp>
      <p:sp>
        <p:nvSpPr>
          <p:cNvPr id="50" name="Text 48"/>
          <p:cNvSpPr/>
          <p:nvPr/>
        </p:nvSpPr>
        <p:spPr>
          <a:xfrm>
            <a:off x="12006072" y="5678424"/>
            <a:ext cx="1828800" cy="306141"/>
          </a:xfrm>
          <a:prstGeom prst="rect">
            <a:avLst/>
          </a:prstGeom>
          <a:noFill/>
          <a:ln/>
        </p:spPr>
        <p:txBody>
          <a:bodyPr wrap="none" lIns="0" tIns="0" rIns="0" bIns="0" rtlCol="0" anchor="t"/>
          <a:lstStyle/>
          <a:p>
            <a:pPr algn="l" indent="0" marL="0">
              <a:buNone/>
            </a:pPr>
            <a:r>
              <a:rPr lang="es-PE" altLang="en-US" sz="1944" dirty="0">
                <a:solidFill>
                  <a:srgbClr val="71677B"/>
                </a:solidFill>
                <a:latin typeface="Arial" pitchFamily="34" charset="0"/>
                <a:ea typeface="Arial" pitchFamily="34" charset="-122"/>
                <a:cs typeface="Arial" pitchFamily="34" charset="-120"/>
              </a:rPr>
              <a:t>variables</a:t>
            </a:r>
            <a:endParaRPr lang="es-PE" sz="1944" dirty="0"/>
          </a:p>
        </p:txBody>
      </p:sp>
      <p:sp>
        <p:nvSpPr>
          <p:cNvPr id="51" name="Text 49"/>
          <p:cNvSpPr/>
          <p:nvPr/>
        </p:nvSpPr>
        <p:spPr>
          <a:xfrm>
            <a:off x="12006072" y="5974690"/>
            <a:ext cx="1828800" cy="306141"/>
          </a:xfrm>
          <a:prstGeom prst="rect">
            <a:avLst/>
          </a:prstGeom>
          <a:noFill/>
          <a:ln/>
        </p:spPr>
        <p:txBody>
          <a:bodyPr wrap="none" lIns="0" tIns="0" rIns="0" bIns="0" rtlCol="0" anchor="t"/>
          <a:lstStyle/>
          <a:p>
            <a:pPr algn="l" indent="0" marL="0">
              <a:buNone/>
            </a:pPr>
            <a:r>
              <a:rPr lang="es-PE" altLang="en-US" sz="1944" dirty="0">
                <a:solidFill>
                  <a:srgbClr val="71677B"/>
                </a:solidFill>
                <a:latin typeface="Arial" pitchFamily="34" charset="0"/>
                <a:ea typeface="Arial" pitchFamily="34" charset="-122"/>
                <a:cs typeface="Arial" pitchFamily="34" charset="-120"/>
              </a:rPr>
              <a:t>QUBO</a:t>
            </a:r>
            <a:endParaRPr lang="es-PE" sz="1944" dirty="0"/>
          </a:p>
        </p:txBody>
      </p:sp>
      <p:sp>
        <p:nvSpPr>
          <p:cNvPr id="52" name="Text 50"/>
          <p:cNvSpPr/>
          <p:nvPr/>
        </p:nvSpPr>
        <p:spPr>
          <a:xfrm>
            <a:off x="777240" y="6949440"/>
            <a:ext cx="13167360" cy="249448"/>
          </a:xfrm>
          <a:prstGeom prst="rect">
            <a:avLst/>
          </a:prstGeom>
          <a:noFill/>
          <a:ln/>
        </p:spPr>
        <p:txBody>
          <a:bodyPr wrap="none" lIns="0" tIns="0" rIns="0" bIns="0" rtlCol="0" anchor="t"/>
          <a:lstStyle/>
          <a:p>
            <a:pPr algn="l" indent="0" marL="0">
              <a:buNone/>
            </a:pPr>
            <a:r>
              <a:rPr lang="es-PE" altLang="en-US" sz="1584" dirty="0">
                <a:solidFill>
                  <a:srgbClr val="71677B"/>
                </a:solidFill>
                <a:latin typeface="Arial" pitchFamily="34" charset="0"/>
                <a:ea typeface="Arial" pitchFamily="34" charset="-122"/>
                <a:cs typeface="Arial" pitchFamily="34" charset="-120"/>
              </a:rPr>
              <a:t>Un oráculo completo necesita recursos adicionales. Los índices sobrantes se descartan.</a:t>
            </a:r>
            <a:endParaRPr lang="es-PE" sz="158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4ED"/>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F4ED"/>
          </a:solidFill>
          <a:ln w="12700">
            <a:solidFill>
              <a:srgbClr val="F8F4ED">
                <a:alpha val="0"/>
              </a:srgbClr>
            </a:solidFill>
            <a:prstDash val="solid"/>
          </a:ln>
        </p:spPr>
      </p:sp>
      <p:sp>
        <p:nvSpPr>
          <p:cNvPr id="3" name="Text 1"/>
          <p:cNvSpPr/>
          <p:nvPr/>
        </p:nvSpPr>
        <p:spPr>
          <a:xfrm>
            <a:off x="731520" y="393192"/>
            <a:ext cx="1920240" cy="317480"/>
          </a:xfrm>
          <a:prstGeom prst="rect">
            <a:avLst/>
          </a:prstGeom>
          <a:noFill/>
          <a:ln/>
        </p:spPr>
        <p:txBody>
          <a:bodyPr wrap="none" lIns="0" tIns="0" rIns="0" bIns="0" rtlCol="0" anchor="t"/>
          <a:lstStyle/>
          <a:p>
            <a:pPr algn="l" indent="0" marL="0">
              <a:buNone/>
            </a:pPr>
            <a:r>
              <a:rPr lang="es-PE" altLang="en-US" sz="2016" b="1" dirty="0">
                <a:solidFill>
                  <a:srgbClr val="27163F"/>
                </a:solidFill>
                <a:latin typeface="Arial" pitchFamily="34" charset="0"/>
                <a:ea typeface="Arial" pitchFamily="34" charset="-122"/>
                <a:cs typeface="Arial" pitchFamily="34" charset="-120"/>
              </a:rPr>
              <a:t>Q-Niño</a:t>
            </a:r>
            <a:endParaRPr lang="es-PE" sz="2016" dirty="0"/>
          </a:p>
        </p:txBody>
      </p:sp>
      <p:sp>
        <p:nvSpPr>
          <p:cNvPr id="4" name="Text 2"/>
          <p:cNvSpPr/>
          <p:nvPr/>
        </p:nvSpPr>
        <p:spPr>
          <a:xfrm>
            <a:off x="2651760" y="448056"/>
            <a:ext cx="3108960" cy="215433"/>
          </a:xfrm>
          <a:prstGeom prst="rect">
            <a:avLst/>
          </a:prstGeom>
          <a:noFill/>
          <a:ln/>
        </p:spPr>
        <p:txBody>
          <a:bodyPr wrap="none" lIns="0" tIns="0" rIns="0" bIns="0" rtlCol="0" anchor="t"/>
          <a:lstStyle/>
          <a:p>
            <a:pPr algn="l" indent="0" marL="0">
              <a:buNone/>
            </a:pPr>
            <a:r>
              <a:rPr lang="es-PE" altLang="en-US" sz="1368" b="1" dirty="0">
                <a:solidFill>
                  <a:srgbClr val="71677B"/>
                </a:solidFill>
                <a:latin typeface="Arial" pitchFamily="34" charset="0"/>
                <a:ea typeface="Arial" pitchFamily="34" charset="-122"/>
                <a:cs typeface="Arial" pitchFamily="34" charset="-120"/>
              </a:rPr>
              <a:t>QUANTUM ACTION</a:t>
            </a:r>
            <a:endParaRPr lang="es-PE" sz="1368" dirty="0"/>
          </a:p>
        </p:txBody>
      </p:sp>
      <p:sp>
        <p:nvSpPr>
          <p:cNvPr id="5" name="Text 3"/>
          <p:cNvSpPr/>
          <p:nvPr/>
        </p:nvSpPr>
        <p:spPr>
          <a:xfrm>
            <a:off x="9829800" y="448056"/>
            <a:ext cx="4069080" cy="215433"/>
          </a:xfrm>
          <a:prstGeom prst="rect">
            <a:avLst/>
          </a:prstGeom>
          <a:noFill/>
          <a:ln/>
        </p:spPr>
        <p:txBody>
          <a:bodyPr wrap="none" lIns="0" tIns="0" rIns="0" bIns="0" rtlCol="0" anchor="t"/>
          <a:lstStyle/>
          <a:p>
            <a:pPr algn="r" indent="0" marL="0">
              <a:buNone/>
            </a:pPr>
            <a:r>
              <a:rPr lang="es-PE" altLang="en-US" sz="1368" dirty="0">
                <a:solidFill>
                  <a:srgbClr val="71677B"/>
                </a:solidFill>
                <a:latin typeface="Arial" pitchFamily="34" charset="0"/>
                <a:ea typeface="Arial" pitchFamily="34" charset="-122"/>
                <a:cs typeface="Arial" pitchFamily="34" charset="-120"/>
              </a:rPr>
              <a:t>QISKIT FALL FEST 2026 · FINAL</a:t>
            </a:r>
            <a:endParaRPr lang="es-PE" sz="1368" dirty="0"/>
          </a:p>
        </p:txBody>
      </p:sp>
      <p:sp>
        <p:nvSpPr>
          <p:cNvPr id="6" name="Shape 4"/>
          <p:cNvSpPr/>
          <p:nvPr/>
        </p:nvSpPr>
        <p:spPr>
          <a:xfrm>
            <a:off x="731520" y="905256"/>
            <a:ext cx="13167360" cy="0"/>
          </a:xfrm>
          <a:prstGeom prst="line">
            <a:avLst/>
          </a:prstGeom>
          <a:noFill/>
          <a:ln w="13716">
            <a:solidFill>
              <a:srgbClr val="DCD3E3"/>
            </a:solidFill>
            <a:prstDash val="solid"/>
          </a:ln>
        </p:spPr>
      </p:sp>
      <p:sp>
        <p:nvSpPr>
          <p:cNvPr id="7" name="Shape 5"/>
          <p:cNvSpPr/>
          <p:nvPr/>
        </p:nvSpPr>
        <p:spPr>
          <a:xfrm>
            <a:off x="731520" y="7470648"/>
            <a:ext cx="13167360" cy="0"/>
          </a:xfrm>
          <a:prstGeom prst="line">
            <a:avLst/>
          </a:prstGeom>
          <a:noFill/>
          <a:ln w="13716">
            <a:solidFill>
              <a:srgbClr val="DCD3E3"/>
            </a:solidFill>
            <a:prstDash val="solid"/>
          </a:ln>
        </p:spPr>
      </p:sp>
      <p:sp>
        <p:nvSpPr>
          <p:cNvPr id="8" name="Text 6">
            <a:hlinkClick r:id="rId1" tooltip=""/>
          </p:cNvPr>
          <p:cNvSpPr/>
          <p:nvPr/>
        </p:nvSpPr>
        <p:spPr>
          <a:xfrm>
            <a:off x="731520" y="7662672"/>
            <a:ext cx="12070080" cy="192756"/>
          </a:xfrm>
          <a:prstGeom prst="rect">
            <a:avLst/>
          </a:prstGeom>
          <a:noFill/>
          <a:ln/>
        </p:spPr>
        <p:txBody>
          <a:bodyPr wrap="none" lIns="0" tIns="0" rIns="0" bIns="0" rtlCol="0" anchor="t"/>
          <a:lstStyle/>
          <a:p>
            <a:pPr algn="l" indent="0" marL="0">
              <a:buNone/>
            </a:pPr>
            <a:r>
              <a:rPr lang="es-PE" altLang="en-US" sz="1224" u="sng" dirty="0">
                <a:solidFill>
                  <a:srgbClr val="71677B"/>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Resultado registrado en datos.js · N = 4 · Qiskit precalculado · datos sintéticos.</a:t>
            </a:r>
            <a:endParaRPr lang="es-PE" sz="1224" dirty="0"/>
          </a:p>
        </p:txBody>
      </p:sp>
      <p:sp>
        <p:nvSpPr>
          <p:cNvPr id="9" name="Text 7"/>
          <p:cNvSpPr/>
          <p:nvPr/>
        </p:nvSpPr>
        <p:spPr>
          <a:xfrm>
            <a:off x="12893040" y="7662672"/>
            <a:ext cx="1005840" cy="192756"/>
          </a:xfrm>
          <a:prstGeom prst="rect">
            <a:avLst/>
          </a:prstGeom>
          <a:noFill/>
          <a:ln/>
        </p:spPr>
        <p:txBody>
          <a:bodyPr wrap="none" lIns="0" tIns="0" rIns="0" bIns="0" rtlCol="0" anchor="t"/>
          <a:lstStyle/>
          <a:p>
            <a:pPr algn="r" indent="0" marL="0">
              <a:buNone/>
            </a:pPr>
            <a:r>
              <a:rPr lang="es-PE" altLang="en-US" sz="1224" b="1" dirty="0">
                <a:solidFill>
                  <a:srgbClr val="71677B"/>
                </a:solidFill>
                <a:latin typeface="Arial" pitchFamily="34" charset="0"/>
                <a:ea typeface="Arial" pitchFamily="34" charset="-122"/>
                <a:cs typeface="Arial" pitchFamily="34" charset="-120"/>
              </a:rPr>
              <a:t>04 / 06</a:t>
            </a:r>
            <a:endParaRPr lang="es-PE" sz="1224" dirty="0"/>
          </a:p>
        </p:txBody>
      </p:sp>
      <p:sp>
        <p:nvSpPr>
          <p:cNvPr id="10" name="Text 8"/>
          <p:cNvSpPr/>
          <p:nvPr/>
        </p:nvSpPr>
        <p:spPr>
          <a:xfrm>
            <a:off x="731520" y="1271016"/>
            <a:ext cx="13258800" cy="623621"/>
          </a:xfrm>
          <a:prstGeom prst="rect">
            <a:avLst/>
          </a:prstGeom>
          <a:noFill/>
          <a:ln/>
        </p:spPr>
        <p:txBody>
          <a:bodyPr wrap="none" lIns="0" tIns="0" rIns="0" bIns="0" rtlCol="0" anchor="t"/>
          <a:lstStyle/>
          <a:p>
            <a:pPr algn="l" indent="0" marL="0">
              <a:buNone/>
            </a:pPr>
            <a:r>
              <a:rPr lang="es-PE" altLang="en-US" sz="3960" b="1" dirty="0">
                <a:solidFill>
                  <a:srgbClr val="27163F"/>
                </a:solidFill>
                <a:latin typeface="Arial" pitchFamily="34" charset="0"/>
                <a:ea typeface="Arial" pitchFamily="34" charset="-122"/>
                <a:cs typeface="Arial" pitchFamily="34" charset="-120"/>
              </a:rPr>
              <a:t>Una decisión que se puede inspeccionar</a:t>
            </a:r>
            <a:endParaRPr lang="es-PE" sz="3960" dirty="0"/>
          </a:p>
        </p:txBody>
      </p:sp>
      <p:sp>
        <p:nvSpPr>
          <p:cNvPr id="11" name="Text 9"/>
          <p:cNvSpPr/>
          <p:nvPr/>
        </p:nvSpPr>
        <p:spPr>
          <a:xfrm>
            <a:off x="749808" y="1965960"/>
            <a:ext cx="12984480" cy="294803"/>
          </a:xfrm>
          <a:prstGeom prst="rect">
            <a:avLst/>
          </a:prstGeom>
          <a:noFill/>
          <a:ln/>
        </p:spPr>
        <p:txBody>
          <a:bodyPr wrap="none" lIns="0" tIns="0" rIns="0" bIns="0" rtlCol="0" anchor="t"/>
          <a:lstStyle/>
          <a:p>
            <a:pPr algn="l" indent="0" marL="0">
              <a:buNone/>
            </a:pPr>
            <a:r>
              <a:rPr lang="es-PE" altLang="en-US" sz="1872" dirty="0">
                <a:solidFill>
                  <a:srgbClr val="71677B"/>
                </a:solidFill>
                <a:latin typeface="Arial" pitchFamily="34" charset="0"/>
                <a:ea typeface="Arial" pitchFamily="34" charset="-122"/>
                <a:cs typeface="Arial" pitchFamily="34" charset="-120"/>
              </a:rPr>
              <a:t>Demo N = 4 · cuatro brigadas, cuatro zonas.</a:t>
            </a:r>
            <a:endParaRPr lang="es-PE" sz="1872" dirty="0"/>
          </a:p>
        </p:txBody>
      </p:sp>
      <p:sp>
        <p:nvSpPr>
          <p:cNvPr id="12" name="Text 10"/>
          <p:cNvSpPr/>
          <p:nvPr/>
        </p:nvSpPr>
        <p:spPr>
          <a:xfrm>
            <a:off x="768096" y="2660904"/>
            <a:ext cx="3840480" cy="215433"/>
          </a:xfrm>
          <a:prstGeom prst="rect">
            <a:avLst/>
          </a:prstGeom>
          <a:noFill/>
          <a:ln/>
        </p:spPr>
        <p:txBody>
          <a:bodyPr wrap="none" lIns="0" tIns="0" rIns="0" bIns="0" rtlCol="0" anchor="t"/>
          <a:lstStyle/>
          <a:p>
            <a:pPr algn="l" indent="0" marL="0">
              <a:buNone/>
            </a:pPr>
            <a:r>
              <a:rPr lang="es-PE" altLang="en-US" sz="1368" b="1" dirty="0">
                <a:solidFill>
                  <a:srgbClr val="71677B"/>
                </a:solidFill>
                <a:latin typeface="Arial" pitchFamily="34" charset="0"/>
                <a:ea typeface="Arial" pitchFamily="34" charset="-122"/>
                <a:cs typeface="Arial" pitchFamily="34" charset="-120"/>
              </a:rPr>
              <a:t>BRIGADA</a:t>
            </a:r>
            <a:endParaRPr lang="es-PE" sz="1368" dirty="0"/>
          </a:p>
        </p:txBody>
      </p:sp>
      <p:sp>
        <p:nvSpPr>
          <p:cNvPr id="13" name="Text 11"/>
          <p:cNvSpPr/>
          <p:nvPr/>
        </p:nvSpPr>
        <p:spPr>
          <a:xfrm>
            <a:off x="7086600" y="2660904"/>
            <a:ext cx="3566160" cy="215433"/>
          </a:xfrm>
          <a:prstGeom prst="rect">
            <a:avLst/>
          </a:prstGeom>
          <a:noFill/>
          <a:ln/>
        </p:spPr>
        <p:txBody>
          <a:bodyPr wrap="none" lIns="0" tIns="0" rIns="0" bIns="0" rtlCol="0" anchor="t"/>
          <a:lstStyle/>
          <a:p>
            <a:pPr algn="l" indent="0" marL="0">
              <a:buNone/>
            </a:pPr>
            <a:r>
              <a:rPr lang="es-PE" altLang="en-US" sz="1368" b="1" dirty="0">
                <a:solidFill>
                  <a:srgbClr val="71677B"/>
                </a:solidFill>
                <a:latin typeface="Arial" pitchFamily="34" charset="0"/>
                <a:ea typeface="Arial" pitchFamily="34" charset="-122"/>
                <a:cs typeface="Arial" pitchFamily="34" charset="-120"/>
              </a:rPr>
              <a:t>DESTINO</a:t>
            </a:r>
            <a:endParaRPr lang="es-PE" sz="1368" dirty="0"/>
          </a:p>
        </p:txBody>
      </p:sp>
      <p:sp>
        <p:nvSpPr>
          <p:cNvPr id="14" name="Text 12"/>
          <p:cNvSpPr/>
          <p:nvPr/>
        </p:nvSpPr>
        <p:spPr>
          <a:xfrm>
            <a:off x="768096" y="3246120"/>
            <a:ext cx="4480560" cy="328818"/>
          </a:xfrm>
          <a:prstGeom prst="rect">
            <a:avLst/>
          </a:prstGeom>
          <a:noFill/>
          <a:ln/>
        </p:spPr>
        <p:txBody>
          <a:bodyPr wrap="none" lIns="0" tIns="0" rIns="0" bIns="0" rtlCol="0" anchor="t"/>
          <a:lstStyle/>
          <a:p>
            <a:pPr algn="l" indent="0" marL="0">
              <a:buNone/>
            </a:pPr>
            <a:r>
              <a:rPr lang="es-PE" altLang="en-US" sz="2088" b="1" dirty="0">
                <a:solidFill>
                  <a:srgbClr val="27163F"/>
                </a:solidFill>
                <a:latin typeface="Arial" pitchFamily="34" charset="0"/>
                <a:ea typeface="Arial" pitchFamily="34" charset="-122"/>
                <a:cs typeface="Arial" pitchFamily="34" charset="-120"/>
              </a:rPr>
              <a:t>Médica</a:t>
            </a:r>
            <a:endParaRPr lang="es-PE" sz="2088" dirty="0"/>
          </a:p>
        </p:txBody>
      </p:sp>
      <p:sp>
        <p:nvSpPr>
          <p:cNvPr id="15" name="Shape 13"/>
          <p:cNvSpPr/>
          <p:nvPr/>
        </p:nvSpPr>
        <p:spPr>
          <a:xfrm>
            <a:off x="5239512" y="3419856"/>
            <a:ext cx="1481328" cy="0"/>
          </a:xfrm>
          <a:prstGeom prst="line">
            <a:avLst/>
          </a:prstGeom>
          <a:noFill/>
          <a:ln w="36576">
            <a:solidFill>
              <a:srgbClr val="6948AD"/>
            </a:solidFill>
            <a:prstDash val="solid"/>
            <a:tailEnd type="triangle"/>
          </a:ln>
        </p:spPr>
      </p:sp>
      <p:sp>
        <p:nvSpPr>
          <p:cNvPr id="16" name="Shape 14"/>
          <p:cNvSpPr/>
          <p:nvPr/>
        </p:nvSpPr>
        <p:spPr>
          <a:xfrm>
            <a:off x="5138928" y="3346704"/>
            <a:ext cx="146304" cy="146304"/>
          </a:xfrm>
          <a:prstGeom prst="ellipse">
            <a:avLst/>
          </a:prstGeom>
          <a:solidFill>
            <a:srgbClr val="6948AD"/>
          </a:solidFill>
          <a:ln w="12700">
            <a:solidFill>
              <a:srgbClr val="6948AD">
                <a:alpha val="0"/>
              </a:srgbClr>
            </a:solidFill>
            <a:prstDash val="solid"/>
          </a:ln>
        </p:spPr>
      </p:sp>
      <p:sp>
        <p:nvSpPr>
          <p:cNvPr id="17" name="Text 15"/>
          <p:cNvSpPr/>
          <p:nvPr/>
        </p:nvSpPr>
        <p:spPr>
          <a:xfrm>
            <a:off x="7086600" y="3246120"/>
            <a:ext cx="3108960" cy="328818"/>
          </a:xfrm>
          <a:prstGeom prst="rect">
            <a:avLst/>
          </a:prstGeom>
          <a:noFill/>
          <a:ln/>
        </p:spPr>
        <p:txBody>
          <a:bodyPr wrap="none" lIns="0" tIns="0" rIns="0" bIns="0" rtlCol="0" anchor="t"/>
          <a:lstStyle/>
          <a:p>
            <a:pPr algn="l" indent="0" marL="0">
              <a:buNone/>
            </a:pPr>
            <a:r>
              <a:rPr lang="es-PE" altLang="en-US" sz="2088" b="1" dirty="0">
                <a:solidFill>
                  <a:srgbClr val="27163F"/>
                </a:solidFill>
                <a:latin typeface="Arial" pitchFamily="34" charset="0"/>
                <a:ea typeface="Arial" pitchFamily="34" charset="-122"/>
                <a:cs typeface="Arial" pitchFamily="34" charset="-120"/>
              </a:rPr>
              <a:t>Trujillo</a:t>
            </a:r>
            <a:endParaRPr lang="es-PE" sz="2088" dirty="0"/>
          </a:p>
        </p:txBody>
      </p:sp>
      <p:sp>
        <p:nvSpPr>
          <p:cNvPr id="18" name="Shape 16"/>
          <p:cNvSpPr/>
          <p:nvPr/>
        </p:nvSpPr>
        <p:spPr>
          <a:xfrm>
            <a:off x="731520" y="3813048"/>
            <a:ext cx="9235440" cy="0"/>
          </a:xfrm>
          <a:prstGeom prst="line">
            <a:avLst/>
          </a:prstGeom>
          <a:noFill/>
          <a:ln w="9144">
            <a:solidFill>
              <a:srgbClr val="DCD3E3"/>
            </a:solidFill>
            <a:prstDash val="solid"/>
          </a:ln>
        </p:spPr>
      </p:sp>
      <p:sp>
        <p:nvSpPr>
          <p:cNvPr id="19" name="Text 17"/>
          <p:cNvSpPr/>
          <p:nvPr/>
        </p:nvSpPr>
        <p:spPr>
          <a:xfrm>
            <a:off x="768096" y="4105656"/>
            <a:ext cx="4480560" cy="328818"/>
          </a:xfrm>
          <a:prstGeom prst="rect">
            <a:avLst/>
          </a:prstGeom>
          <a:noFill/>
          <a:ln/>
        </p:spPr>
        <p:txBody>
          <a:bodyPr wrap="none" lIns="0" tIns="0" rIns="0" bIns="0" rtlCol="0" anchor="t"/>
          <a:lstStyle/>
          <a:p>
            <a:pPr algn="l" indent="0" marL="0">
              <a:buNone/>
            </a:pPr>
            <a:r>
              <a:rPr lang="es-PE" altLang="en-US" sz="2088" b="1" dirty="0">
                <a:solidFill>
                  <a:srgbClr val="27163F"/>
                </a:solidFill>
                <a:latin typeface="Arial" pitchFamily="34" charset="0"/>
                <a:ea typeface="Arial" pitchFamily="34" charset="-122"/>
                <a:cs typeface="Arial" pitchFamily="34" charset="-120"/>
              </a:rPr>
              <a:t>Rescate</a:t>
            </a:r>
            <a:endParaRPr lang="es-PE" sz="2088" dirty="0"/>
          </a:p>
        </p:txBody>
      </p:sp>
      <p:sp>
        <p:nvSpPr>
          <p:cNvPr id="20" name="Shape 18"/>
          <p:cNvSpPr/>
          <p:nvPr/>
        </p:nvSpPr>
        <p:spPr>
          <a:xfrm>
            <a:off x="5239512" y="4279392"/>
            <a:ext cx="1481328" cy="0"/>
          </a:xfrm>
          <a:prstGeom prst="line">
            <a:avLst/>
          </a:prstGeom>
          <a:noFill/>
          <a:ln w="36576">
            <a:solidFill>
              <a:srgbClr val="8B6CB3"/>
            </a:solidFill>
            <a:prstDash val="solid"/>
            <a:tailEnd type="triangle"/>
          </a:ln>
        </p:spPr>
      </p:sp>
      <p:sp>
        <p:nvSpPr>
          <p:cNvPr id="21" name="Shape 19"/>
          <p:cNvSpPr/>
          <p:nvPr/>
        </p:nvSpPr>
        <p:spPr>
          <a:xfrm>
            <a:off x="5138928" y="4206240"/>
            <a:ext cx="146304" cy="146304"/>
          </a:xfrm>
          <a:prstGeom prst="ellipse">
            <a:avLst/>
          </a:prstGeom>
          <a:solidFill>
            <a:srgbClr val="8B6CB3"/>
          </a:solidFill>
          <a:ln w="12700">
            <a:solidFill>
              <a:srgbClr val="8B6CB3">
                <a:alpha val="0"/>
              </a:srgbClr>
            </a:solidFill>
            <a:prstDash val="solid"/>
          </a:ln>
        </p:spPr>
      </p:sp>
      <p:sp>
        <p:nvSpPr>
          <p:cNvPr id="22" name="Text 20"/>
          <p:cNvSpPr/>
          <p:nvPr/>
        </p:nvSpPr>
        <p:spPr>
          <a:xfrm>
            <a:off x="7086600" y="4105656"/>
            <a:ext cx="3108960" cy="328818"/>
          </a:xfrm>
          <a:prstGeom prst="rect">
            <a:avLst/>
          </a:prstGeom>
          <a:noFill/>
          <a:ln/>
        </p:spPr>
        <p:txBody>
          <a:bodyPr wrap="none" lIns="0" tIns="0" rIns="0" bIns="0" rtlCol="0" anchor="t"/>
          <a:lstStyle/>
          <a:p>
            <a:pPr algn="l" indent="0" marL="0">
              <a:buNone/>
            </a:pPr>
            <a:r>
              <a:rPr lang="es-PE" altLang="en-US" sz="2088" b="1" dirty="0">
                <a:solidFill>
                  <a:srgbClr val="27163F"/>
                </a:solidFill>
                <a:latin typeface="Arial" pitchFamily="34" charset="0"/>
                <a:ea typeface="Arial" pitchFamily="34" charset="-122"/>
                <a:cs typeface="Arial" pitchFamily="34" charset="-120"/>
              </a:rPr>
              <a:t>Lambayeque</a:t>
            </a:r>
            <a:endParaRPr lang="es-PE" sz="2088" dirty="0"/>
          </a:p>
        </p:txBody>
      </p:sp>
      <p:sp>
        <p:nvSpPr>
          <p:cNvPr id="23" name="Shape 21"/>
          <p:cNvSpPr/>
          <p:nvPr/>
        </p:nvSpPr>
        <p:spPr>
          <a:xfrm>
            <a:off x="731520" y="4672584"/>
            <a:ext cx="9235440" cy="0"/>
          </a:xfrm>
          <a:prstGeom prst="line">
            <a:avLst/>
          </a:prstGeom>
          <a:noFill/>
          <a:ln w="9144">
            <a:solidFill>
              <a:srgbClr val="DCD3E3"/>
            </a:solidFill>
            <a:prstDash val="solid"/>
          </a:ln>
        </p:spPr>
      </p:sp>
      <p:sp>
        <p:nvSpPr>
          <p:cNvPr id="24" name="Text 22"/>
          <p:cNvSpPr/>
          <p:nvPr/>
        </p:nvSpPr>
        <p:spPr>
          <a:xfrm>
            <a:off x="768096" y="4965192"/>
            <a:ext cx="4480560" cy="328818"/>
          </a:xfrm>
          <a:prstGeom prst="rect">
            <a:avLst/>
          </a:prstGeom>
          <a:noFill/>
          <a:ln/>
        </p:spPr>
        <p:txBody>
          <a:bodyPr wrap="none" lIns="0" tIns="0" rIns="0" bIns="0" rtlCol="0" anchor="t"/>
          <a:lstStyle/>
          <a:p>
            <a:pPr algn="l" indent="0" marL="0">
              <a:buNone/>
            </a:pPr>
            <a:r>
              <a:rPr lang="es-PE" altLang="en-US" sz="2088" b="1" dirty="0">
                <a:solidFill>
                  <a:srgbClr val="27163F"/>
                </a:solidFill>
                <a:latin typeface="Arial" pitchFamily="34" charset="0"/>
                <a:ea typeface="Arial" pitchFamily="34" charset="-122"/>
                <a:cs typeface="Arial" pitchFamily="34" charset="-120"/>
              </a:rPr>
              <a:t>Logística</a:t>
            </a:r>
            <a:endParaRPr lang="es-PE" sz="2088" dirty="0"/>
          </a:p>
        </p:txBody>
      </p:sp>
      <p:sp>
        <p:nvSpPr>
          <p:cNvPr id="25" name="Shape 23"/>
          <p:cNvSpPr/>
          <p:nvPr/>
        </p:nvSpPr>
        <p:spPr>
          <a:xfrm>
            <a:off x="5239512" y="5138928"/>
            <a:ext cx="1481328" cy="0"/>
          </a:xfrm>
          <a:prstGeom prst="line">
            <a:avLst/>
          </a:prstGeom>
          <a:noFill/>
          <a:ln w="36576">
            <a:solidFill>
              <a:srgbClr val="B57D67"/>
            </a:solidFill>
            <a:prstDash val="solid"/>
            <a:tailEnd type="triangle"/>
          </a:ln>
        </p:spPr>
      </p:sp>
      <p:sp>
        <p:nvSpPr>
          <p:cNvPr id="26" name="Shape 24"/>
          <p:cNvSpPr/>
          <p:nvPr/>
        </p:nvSpPr>
        <p:spPr>
          <a:xfrm>
            <a:off x="5138928" y="5065776"/>
            <a:ext cx="146304" cy="146304"/>
          </a:xfrm>
          <a:prstGeom prst="ellipse">
            <a:avLst/>
          </a:prstGeom>
          <a:solidFill>
            <a:srgbClr val="B57D67"/>
          </a:solidFill>
          <a:ln w="12700">
            <a:solidFill>
              <a:srgbClr val="B57D67">
                <a:alpha val="0"/>
              </a:srgbClr>
            </a:solidFill>
            <a:prstDash val="solid"/>
          </a:ln>
        </p:spPr>
      </p:sp>
      <p:sp>
        <p:nvSpPr>
          <p:cNvPr id="27" name="Text 25"/>
          <p:cNvSpPr/>
          <p:nvPr/>
        </p:nvSpPr>
        <p:spPr>
          <a:xfrm>
            <a:off x="7086600" y="4965192"/>
            <a:ext cx="3108960" cy="328818"/>
          </a:xfrm>
          <a:prstGeom prst="rect">
            <a:avLst/>
          </a:prstGeom>
          <a:noFill/>
          <a:ln/>
        </p:spPr>
        <p:txBody>
          <a:bodyPr wrap="none" lIns="0" tIns="0" rIns="0" bIns="0" rtlCol="0" anchor="t"/>
          <a:lstStyle/>
          <a:p>
            <a:pPr algn="l" indent="0" marL="0">
              <a:buNone/>
            </a:pPr>
            <a:r>
              <a:rPr lang="es-PE" altLang="en-US" sz="2088" b="1" dirty="0">
                <a:solidFill>
                  <a:srgbClr val="27163F"/>
                </a:solidFill>
                <a:latin typeface="Arial" pitchFamily="34" charset="0"/>
                <a:ea typeface="Arial" pitchFamily="34" charset="-122"/>
                <a:cs typeface="Arial" pitchFamily="34" charset="-120"/>
              </a:rPr>
              <a:t>Tumbes</a:t>
            </a:r>
            <a:endParaRPr lang="es-PE" sz="2088" dirty="0"/>
          </a:p>
        </p:txBody>
      </p:sp>
      <p:sp>
        <p:nvSpPr>
          <p:cNvPr id="28" name="Shape 26"/>
          <p:cNvSpPr/>
          <p:nvPr/>
        </p:nvSpPr>
        <p:spPr>
          <a:xfrm>
            <a:off x="731520" y="5532120"/>
            <a:ext cx="9235440" cy="0"/>
          </a:xfrm>
          <a:prstGeom prst="line">
            <a:avLst/>
          </a:prstGeom>
          <a:noFill/>
          <a:ln w="9144">
            <a:solidFill>
              <a:srgbClr val="DCD3E3"/>
            </a:solidFill>
            <a:prstDash val="solid"/>
          </a:ln>
        </p:spPr>
      </p:sp>
      <p:sp>
        <p:nvSpPr>
          <p:cNvPr id="29" name="Text 27"/>
          <p:cNvSpPr/>
          <p:nvPr/>
        </p:nvSpPr>
        <p:spPr>
          <a:xfrm>
            <a:off x="768096" y="5824728"/>
            <a:ext cx="4480560" cy="328818"/>
          </a:xfrm>
          <a:prstGeom prst="rect">
            <a:avLst/>
          </a:prstGeom>
          <a:noFill/>
          <a:ln/>
        </p:spPr>
        <p:txBody>
          <a:bodyPr wrap="none" lIns="0" tIns="0" rIns="0" bIns="0" rtlCol="0" anchor="t"/>
          <a:lstStyle/>
          <a:p>
            <a:pPr algn="l" indent="0" marL="0">
              <a:buNone/>
            </a:pPr>
            <a:r>
              <a:rPr lang="es-PE" altLang="en-US" sz="2088" b="1" dirty="0">
                <a:solidFill>
                  <a:srgbClr val="27163F"/>
                </a:solidFill>
                <a:latin typeface="Arial" pitchFamily="34" charset="0"/>
                <a:ea typeface="Arial" pitchFamily="34" charset="-122"/>
                <a:cs typeface="Arial" pitchFamily="34" charset="-120"/>
              </a:rPr>
              <a:t>Agua y saneamiento</a:t>
            </a:r>
            <a:endParaRPr lang="es-PE" sz="2088" dirty="0"/>
          </a:p>
        </p:txBody>
      </p:sp>
      <p:sp>
        <p:nvSpPr>
          <p:cNvPr id="30" name="Shape 28"/>
          <p:cNvSpPr/>
          <p:nvPr/>
        </p:nvSpPr>
        <p:spPr>
          <a:xfrm>
            <a:off x="5239512" y="5998464"/>
            <a:ext cx="1481328" cy="0"/>
          </a:xfrm>
          <a:prstGeom prst="line">
            <a:avLst/>
          </a:prstGeom>
          <a:noFill/>
          <a:ln w="36576">
            <a:solidFill>
              <a:srgbClr val="3F8972"/>
            </a:solidFill>
            <a:prstDash val="solid"/>
            <a:tailEnd type="triangle"/>
          </a:ln>
        </p:spPr>
      </p:sp>
      <p:sp>
        <p:nvSpPr>
          <p:cNvPr id="31" name="Shape 29"/>
          <p:cNvSpPr/>
          <p:nvPr/>
        </p:nvSpPr>
        <p:spPr>
          <a:xfrm>
            <a:off x="5138928" y="5925312"/>
            <a:ext cx="146304" cy="146304"/>
          </a:xfrm>
          <a:prstGeom prst="ellipse">
            <a:avLst/>
          </a:prstGeom>
          <a:solidFill>
            <a:srgbClr val="3F8972"/>
          </a:solidFill>
          <a:ln w="12700">
            <a:solidFill>
              <a:srgbClr val="3F8972">
                <a:alpha val="0"/>
              </a:srgbClr>
            </a:solidFill>
            <a:prstDash val="solid"/>
          </a:ln>
        </p:spPr>
      </p:sp>
      <p:sp>
        <p:nvSpPr>
          <p:cNvPr id="32" name="Text 30"/>
          <p:cNvSpPr/>
          <p:nvPr/>
        </p:nvSpPr>
        <p:spPr>
          <a:xfrm>
            <a:off x="7086600" y="5824728"/>
            <a:ext cx="3108960" cy="328818"/>
          </a:xfrm>
          <a:prstGeom prst="rect">
            <a:avLst/>
          </a:prstGeom>
          <a:noFill/>
          <a:ln/>
        </p:spPr>
        <p:txBody>
          <a:bodyPr wrap="none" lIns="0" tIns="0" rIns="0" bIns="0" rtlCol="0" anchor="t"/>
          <a:lstStyle/>
          <a:p>
            <a:pPr algn="l" indent="0" marL="0">
              <a:buNone/>
            </a:pPr>
            <a:r>
              <a:rPr lang="es-PE" altLang="en-US" sz="2088" b="1" dirty="0">
                <a:solidFill>
                  <a:srgbClr val="27163F"/>
                </a:solidFill>
                <a:latin typeface="Arial" pitchFamily="34" charset="0"/>
                <a:ea typeface="Arial" pitchFamily="34" charset="-122"/>
                <a:cs typeface="Arial" pitchFamily="34" charset="-120"/>
              </a:rPr>
              <a:t>Piura</a:t>
            </a:r>
            <a:endParaRPr lang="es-PE" sz="2088" dirty="0"/>
          </a:p>
        </p:txBody>
      </p:sp>
      <p:sp>
        <p:nvSpPr>
          <p:cNvPr id="33" name="Shape 31"/>
          <p:cNvSpPr/>
          <p:nvPr/>
        </p:nvSpPr>
        <p:spPr>
          <a:xfrm>
            <a:off x="731520" y="6391656"/>
            <a:ext cx="9235440" cy="0"/>
          </a:xfrm>
          <a:prstGeom prst="line">
            <a:avLst/>
          </a:prstGeom>
          <a:noFill/>
          <a:ln w="9144">
            <a:solidFill>
              <a:srgbClr val="DCD3E3"/>
            </a:solidFill>
            <a:prstDash val="solid"/>
          </a:ln>
        </p:spPr>
      </p:sp>
      <p:sp>
        <p:nvSpPr>
          <p:cNvPr id="34" name="Shape 32"/>
          <p:cNvSpPr/>
          <p:nvPr/>
        </p:nvSpPr>
        <p:spPr>
          <a:xfrm>
            <a:off x="10561320" y="2642616"/>
            <a:ext cx="3337560" cy="3785616"/>
          </a:xfrm>
          <a:prstGeom prst="rect">
            <a:avLst/>
          </a:prstGeom>
          <a:solidFill>
            <a:srgbClr val="27163F"/>
          </a:solidFill>
          <a:ln w="12700">
            <a:solidFill>
              <a:srgbClr val="27163F">
                <a:alpha val="0"/>
              </a:srgbClr>
            </a:solidFill>
            <a:prstDash val="solid"/>
          </a:ln>
        </p:spPr>
      </p:sp>
      <p:sp>
        <p:nvSpPr>
          <p:cNvPr id="35" name="Text 33"/>
          <p:cNvSpPr/>
          <p:nvPr/>
        </p:nvSpPr>
        <p:spPr>
          <a:xfrm>
            <a:off x="10817352" y="2926080"/>
            <a:ext cx="2834640" cy="204094"/>
          </a:xfrm>
          <a:prstGeom prst="rect">
            <a:avLst/>
          </a:prstGeom>
          <a:noFill/>
          <a:ln/>
        </p:spPr>
        <p:txBody>
          <a:bodyPr wrap="none" lIns="0" tIns="0" rIns="0" bIns="0" rtlCol="0" anchor="t"/>
          <a:lstStyle/>
          <a:p>
            <a:pPr algn="l" indent="0" marL="0">
              <a:buNone/>
            </a:pPr>
            <a:r>
              <a:rPr lang="es-PE" altLang="en-US" sz="1296" b="1" dirty="0">
                <a:solidFill>
                  <a:srgbClr val="D8C9F1"/>
                </a:solidFill>
                <a:latin typeface="Arial" pitchFamily="34" charset="0"/>
                <a:ea typeface="Arial" pitchFamily="34" charset="-122"/>
                <a:cs typeface="Arial" pitchFamily="34" charset="-120"/>
              </a:rPr>
              <a:t>COSTE DE LA ASIGNACIÓN</a:t>
            </a:r>
            <a:endParaRPr lang="es-PE" sz="1296" dirty="0"/>
          </a:p>
        </p:txBody>
      </p:sp>
      <p:sp>
        <p:nvSpPr>
          <p:cNvPr id="36" name="Text 34"/>
          <p:cNvSpPr/>
          <p:nvPr/>
        </p:nvSpPr>
        <p:spPr>
          <a:xfrm>
            <a:off x="10808208" y="3401568"/>
            <a:ext cx="2807208" cy="1179210"/>
          </a:xfrm>
          <a:prstGeom prst="rect">
            <a:avLst/>
          </a:prstGeom>
          <a:noFill/>
          <a:ln/>
        </p:spPr>
        <p:txBody>
          <a:bodyPr wrap="none" lIns="0" tIns="0" rIns="0" bIns="0" rtlCol="0" anchor="t"/>
          <a:lstStyle/>
          <a:p>
            <a:pPr algn="l" indent="0" marL="0">
              <a:buNone/>
            </a:pPr>
            <a:r>
              <a:rPr lang="es-PE" altLang="en-US" sz="7488" b="1" dirty="0">
                <a:solidFill>
                  <a:srgbClr val="F8F4ED"/>
                </a:solidFill>
                <a:latin typeface="Arial" pitchFamily="34" charset="0"/>
                <a:ea typeface="Arial" pitchFamily="34" charset="-122"/>
                <a:cs typeface="Arial" pitchFamily="34" charset="-120"/>
              </a:rPr>
              <a:t>202</a:t>
            </a:r>
            <a:endParaRPr lang="es-PE" sz="7488" dirty="0"/>
          </a:p>
        </p:txBody>
      </p:sp>
      <p:sp>
        <p:nvSpPr>
          <p:cNvPr id="37" name="Text 35"/>
          <p:cNvSpPr/>
          <p:nvPr/>
        </p:nvSpPr>
        <p:spPr>
          <a:xfrm>
            <a:off x="10853928" y="4672584"/>
            <a:ext cx="2761488" cy="283464"/>
          </a:xfrm>
          <a:prstGeom prst="rect">
            <a:avLst/>
          </a:prstGeom>
          <a:noFill/>
          <a:ln/>
        </p:spPr>
        <p:txBody>
          <a:bodyPr wrap="none" lIns="0" tIns="0" rIns="0" bIns="0" rtlCol="0" anchor="t"/>
          <a:lstStyle/>
          <a:p>
            <a:pPr algn="l" indent="0" marL="0">
              <a:buNone/>
            </a:pPr>
            <a:r>
              <a:rPr lang="es-PE" altLang="en-US" sz="1800" b="1" dirty="0">
                <a:solidFill>
                  <a:srgbClr val="BEEAD9"/>
                </a:solidFill>
                <a:latin typeface="Arial" pitchFamily="34" charset="0"/>
                <a:ea typeface="Arial" pitchFamily="34" charset="-122"/>
                <a:cs typeface="Arial" pitchFamily="34" charset="-120"/>
              </a:rPr>
              <a:t>Igual al óptimo exacto</a:t>
            </a:r>
            <a:endParaRPr lang="es-PE" sz="1800" dirty="0"/>
          </a:p>
        </p:txBody>
      </p:sp>
      <p:sp>
        <p:nvSpPr>
          <p:cNvPr id="38" name="Text 36"/>
          <p:cNvSpPr/>
          <p:nvPr/>
        </p:nvSpPr>
        <p:spPr>
          <a:xfrm>
            <a:off x="10853928" y="4958334"/>
            <a:ext cx="2761488" cy="283464"/>
          </a:xfrm>
          <a:prstGeom prst="rect">
            <a:avLst/>
          </a:prstGeom>
          <a:noFill/>
          <a:ln/>
        </p:spPr>
        <p:txBody>
          <a:bodyPr wrap="none" lIns="0" tIns="0" rIns="0" bIns="0" rtlCol="0" anchor="t"/>
          <a:lstStyle/>
          <a:p>
            <a:pPr algn="l" indent="0" marL="0">
              <a:buNone/>
            </a:pPr>
            <a:r>
              <a:rPr lang="es-PE" altLang="en-US" sz="1800" b="1" dirty="0">
                <a:solidFill>
                  <a:srgbClr val="BEEAD9"/>
                </a:solidFill>
                <a:latin typeface="Arial" pitchFamily="34" charset="0"/>
                <a:ea typeface="Arial" pitchFamily="34" charset="-122"/>
                <a:cs typeface="Arial" pitchFamily="34" charset="-120"/>
              </a:rPr>
              <a:t>de esta matriz.</a:t>
            </a:r>
            <a:endParaRPr lang="es-PE" sz="1800" dirty="0"/>
          </a:p>
        </p:txBody>
      </p:sp>
      <p:sp>
        <p:nvSpPr>
          <p:cNvPr id="39" name="Text 37"/>
          <p:cNvSpPr/>
          <p:nvPr/>
        </p:nvSpPr>
        <p:spPr>
          <a:xfrm>
            <a:off x="10853928" y="5623560"/>
            <a:ext cx="2761488" cy="226771"/>
          </a:xfrm>
          <a:prstGeom prst="rect">
            <a:avLst/>
          </a:prstGeom>
          <a:noFill/>
          <a:ln/>
        </p:spPr>
        <p:txBody>
          <a:bodyPr wrap="none" lIns="0" tIns="0" rIns="0" bIns="0" rtlCol="0" anchor="t"/>
          <a:lstStyle/>
          <a:p>
            <a:pPr algn="l" indent="0" marL="0">
              <a:buNone/>
            </a:pPr>
            <a:r>
              <a:rPr lang="es-PE" altLang="en-US" sz="1440" dirty="0">
                <a:solidFill>
                  <a:srgbClr val="D8C9F1"/>
                </a:solidFill>
                <a:latin typeface="Arial" pitchFamily="34" charset="0"/>
                <a:ea typeface="Arial" pitchFamily="34" charset="-122"/>
                <a:cs typeface="Arial" pitchFamily="34" charset="-120"/>
              </a:rPr>
              <a:t>Coste ponderado;</a:t>
            </a:r>
            <a:endParaRPr lang="es-PE" sz="1440" dirty="0"/>
          </a:p>
        </p:txBody>
      </p:sp>
      <p:sp>
        <p:nvSpPr>
          <p:cNvPr id="40" name="Text 38"/>
          <p:cNvSpPr/>
          <p:nvPr/>
        </p:nvSpPr>
        <p:spPr>
          <a:xfrm>
            <a:off x="10853928" y="5852160"/>
            <a:ext cx="2761488" cy="226771"/>
          </a:xfrm>
          <a:prstGeom prst="rect">
            <a:avLst/>
          </a:prstGeom>
          <a:noFill/>
          <a:ln/>
        </p:spPr>
        <p:txBody>
          <a:bodyPr wrap="none" lIns="0" tIns="0" rIns="0" bIns="0" rtlCol="0" anchor="t"/>
          <a:lstStyle/>
          <a:p>
            <a:pPr algn="l" indent="0" marL="0">
              <a:buNone/>
            </a:pPr>
            <a:r>
              <a:rPr lang="es-PE" altLang="en-US" sz="1440" dirty="0">
                <a:solidFill>
                  <a:srgbClr val="D8C9F1"/>
                </a:solidFill>
                <a:latin typeface="Arial" pitchFamily="34" charset="0"/>
                <a:ea typeface="Arial" pitchFamily="34" charset="-122"/>
                <a:cs typeface="Arial" pitchFamily="34" charset="-120"/>
              </a:rPr>
              <a:t>no horas reales.</a:t>
            </a:r>
            <a:endParaRPr lang="es-PE" sz="1440" dirty="0"/>
          </a:p>
        </p:txBody>
      </p:sp>
      <p:sp>
        <p:nvSpPr>
          <p:cNvPr id="41" name="Shape 39"/>
          <p:cNvSpPr/>
          <p:nvPr/>
        </p:nvSpPr>
        <p:spPr>
          <a:xfrm>
            <a:off x="731520" y="6702552"/>
            <a:ext cx="3822192" cy="493776"/>
          </a:xfrm>
          <a:prstGeom prst="rect">
            <a:avLst/>
          </a:prstGeom>
          <a:solidFill>
            <a:srgbClr val="6948AD"/>
          </a:solidFill>
          <a:ln w="12700">
            <a:solidFill>
              <a:srgbClr val="6948AD">
                <a:alpha val="0"/>
              </a:srgbClr>
            </a:solidFill>
            <a:prstDash val="solid"/>
          </a:ln>
        </p:spPr>
      </p:sp>
      <p:sp>
        <p:nvSpPr>
          <p:cNvPr id="42" name="Text 40">
            <a:hlinkClick r:id="rId2" tooltip=""/>
          </p:cNvPr>
          <p:cNvSpPr/>
          <p:nvPr/>
        </p:nvSpPr>
        <p:spPr>
          <a:xfrm>
            <a:off x="960120" y="6830568"/>
            <a:ext cx="3355848" cy="272125"/>
          </a:xfrm>
          <a:prstGeom prst="rect">
            <a:avLst/>
          </a:prstGeom>
          <a:noFill/>
          <a:ln/>
        </p:spPr>
        <p:txBody>
          <a:bodyPr wrap="none" lIns="0" tIns="0" rIns="0" bIns="0" rtlCol="0" anchor="t"/>
          <a:lstStyle/>
          <a:p>
            <a:pPr algn="l" indent="0" marL="0">
              <a:buNone/>
            </a:pPr>
            <a:r>
              <a:rPr lang="es-PE" altLang="en-US" sz="1728" b="1" u="sng" dirty="0">
                <a:solidFill>
                  <a:srgbClr val="F8F4ED"/>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Abrir simulador  ↗</a:t>
            </a:r>
            <a:endParaRPr lang="es-PE" sz="1728" dirty="0"/>
          </a:p>
        </p:txBody>
      </p:sp>
      <p:sp>
        <p:nvSpPr>
          <p:cNvPr id="43" name="Text 41">
            <a:hlinkClick r:id="rId3" tooltip=""/>
          </p:cNvPr>
          <p:cNvSpPr/>
          <p:nvPr/>
        </p:nvSpPr>
        <p:spPr>
          <a:xfrm>
            <a:off x="4837176" y="6839712"/>
            <a:ext cx="4709160" cy="272125"/>
          </a:xfrm>
          <a:prstGeom prst="rect">
            <a:avLst/>
          </a:prstGeom>
          <a:noFill/>
          <a:ln/>
        </p:spPr>
        <p:txBody>
          <a:bodyPr wrap="none" lIns="0" tIns="0" rIns="0" bIns="0" rtlCol="0" anchor="t"/>
          <a:lstStyle/>
          <a:p>
            <a:pPr algn="l" indent="0" marL="0">
              <a:buNone/>
            </a:pPr>
            <a:r>
              <a:rPr lang="es-PE" altLang="en-US" sz="1728" u="sng" dirty="0">
                <a:solidFill>
                  <a:srgbClr val="71677B"/>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q-nino.vercel.app</a:t>
            </a:r>
            <a:endParaRPr lang="es-PE" sz="1728"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4ED"/>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F4ED"/>
          </a:solidFill>
          <a:ln w="12700">
            <a:solidFill>
              <a:srgbClr val="F8F4ED">
                <a:alpha val="0"/>
              </a:srgbClr>
            </a:solidFill>
            <a:prstDash val="solid"/>
          </a:ln>
        </p:spPr>
      </p:sp>
      <p:sp>
        <p:nvSpPr>
          <p:cNvPr id="3" name="Text 1"/>
          <p:cNvSpPr/>
          <p:nvPr/>
        </p:nvSpPr>
        <p:spPr>
          <a:xfrm>
            <a:off x="731520" y="393192"/>
            <a:ext cx="1920240" cy="317480"/>
          </a:xfrm>
          <a:prstGeom prst="rect">
            <a:avLst/>
          </a:prstGeom>
          <a:noFill/>
          <a:ln/>
        </p:spPr>
        <p:txBody>
          <a:bodyPr wrap="none" lIns="0" tIns="0" rIns="0" bIns="0" rtlCol="0" anchor="t"/>
          <a:lstStyle/>
          <a:p>
            <a:pPr algn="l" indent="0" marL="0">
              <a:buNone/>
            </a:pPr>
            <a:r>
              <a:rPr lang="es-PE" altLang="en-US" sz="2016" b="1" dirty="0">
                <a:solidFill>
                  <a:srgbClr val="27163F"/>
                </a:solidFill>
                <a:latin typeface="Arial" pitchFamily="34" charset="0"/>
                <a:ea typeface="Arial" pitchFamily="34" charset="-122"/>
                <a:cs typeface="Arial" pitchFamily="34" charset="-120"/>
              </a:rPr>
              <a:t>Q-Niño</a:t>
            </a:r>
            <a:endParaRPr lang="es-PE" sz="2016" dirty="0"/>
          </a:p>
        </p:txBody>
      </p:sp>
      <p:sp>
        <p:nvSpPr>
          <p:cNvPr id="4" name="Text 2"/>
          <p:cNvSpPr/>
          <p:nvPr/>
        </p:nvSpPr>
        <p:spPr>
          <a:xfrm>
            <a:off x="2651760" y="448056"/>
            <a:ext cx="3108960" cy="215433"/>
          </a:xfrm>
          <a:prstGeom prst="rect">
            <a:avLst/>
          </a:prstGeom>
          <a:noFill/>
          <a:ln/>
        </p:spPr>
        <p:txBody>
          <a:bodyPr wrap="none" lIns="0" tIns="0" rIns="0" bIns="0" rtlCol="0" anchor="t"/>
          <a:lstStyle/>
          <a:p>
            <a:pPr algn="l" indent="0" marL="0">
              <a:buNone/>
            </a:pPr>
            <a:r>
              <a:rPr lang="es-PE" altLang="en-US" sz="1368" b="1" dirty="0">
                <a:solidFill>
                  <a:srgbClr val="71677B"/>
                </a:solidFill>
                <a:latin typeface="Arial" pitchFamily="34" charset="0"/>
                <a:ea typeface="Arial" pitchFamily="34" charset="-122"/>
                <a:cs typeface="Arial" pitchFamily="34" charset="-120"/>
              </a:rPr>
              <a:t>QUANTUM ACTION</a:t>
            </a:r>
            <a:endParaRPr lang="es-PE" sz="1368" dirty="0"/>
          </a:p>
        </p:txBody>
      </p:sp>
      <p:sp>
        <p:nvSpPr>
          <p:cNvPr id="5" name="Text 3"/>
          <p:cNvSpPr/>
          <p:nvPr/>
        </p:nvSpPr>
        <p:spPr>
          <a:xfrm>
            <a:off x="9829800" y="448056"/>
            <a:ext cx="4069080" cy="215433"/>
          </a:xfrm>
          <a:prstGeom prst="rect">
            <a:avLst/>
          </a:prstGeom>
          <a:noFill/>
          <a:ln/>
        </p:spPr>
        <p:txBody>
          <a:bodyPr wrap="none" lIns="0" tIns="0" rIns="0" bIns="0" rtlCol="0" anchor="t"/>
          <a:lstStyle/>
          <a:p>
            <a:pPr algn="r" indent="0" marL="0">
              <a:buNone/>
            </a:pPr>
            <a:r>
              <a:rPr lang="es-PE" altLang="en-US" sz="1368" dirty="0">
                <a:solidFill>
                  <a:srgbClr val="71677B"/>
                </a:solidFill>
                <a:latin typeface="Arial" pitchFamily="34" charset="0"/>
                <a:ea typeface="Arial" pitchFamily="34" charset="-122"/>
                <a:cs typeface="Arial" pitchFamily="34" charset="-120"/>
              </a:rPr>
              <a:t>QISKIT FALL FEST 2026 · FINAL</a:t>
            </a:r>
            <a:endParaRPr lang="es-PE" sz="1368" dirty="0"/>
          </a:p>
        </p:txBody>
      </p:sp>
      <p:sp>
        <p:nvSpPr>
          <p:cNvPr id="6" name="Shape 4"/>
          <p:cNvSpPr/>
          <p:nvPr/>
        </p:nvSpPr>
        <p:spPr>
          <a:xfrm>
            <a:off x="731520" y="905256"/>
            <a:ext cx="13167360" cy="0"/>
          </a:xfrm>
          <a:prstGeom prst="line">
            <a:avLst/>
          </a:prstGeom>
          <a:noFill/>
          <a:ln w="13716">
            <a:solidFill>
              <a:srgbClr val="DCD3E3"/>
            </a:solidFill>
            <a:prstDash val="solid"/>
          </a:ln>
        </p:spPr>
      </p:sp>
      <p:sp>
        <p:nvSpPr>
          <p:cNvPr id="7" name="Shape 5"/>
          <p:cNvSpPr/>
          <p:nvPr/>
        </p:nvSpPr>
        <p:spPr>
          <a:xfrm>
            <a:off x="731520" y="7470648"/>
            <a:ext cx="13167360" cy="0"/>
          </a:xfrm>
          <a:prstGeom prst="line">
            <a:avLst/>
          </a:prstGeom>
          <a:noFill/>
          <a:ln w="13716">
            <a:solidFill>
              <a:srgbClr val="DCD3E3"/>
            </a:solidFill>
            <a:prstDash val="solid"/>
          </a:ln>
        </p:spPr>
      </p:sp>
      <p:sp>
        <p:nvSpPr>
          <p:cNvPr id="8" name="Text 6">
            <a:hlinkClick r:id="rId1" tooltip=""/>
          </p:cNvPr>
          <p:cNvSpPr/>
          <p:nvPr/>
        </p:nvSpPr>
        <p:spPr>
          <a:xfrm>
            <a:off x="731520" y="7662672"/>
            <a:ext cx="12070080" cy="192756"/>
          </a:xfrm>
          <a:prstGeom prst="rect">
            <a:avLst/>
          </a:prstGeom>
          <a:noFill/>
          <a:ln/>
        </p:spPr>
        <p:txBody>
          <a:bodyPr wrap="none" lIns="0" tIns="0" rIns="0" bIns="0" rtlCol="0" anchor="t"/>
          <a:lstStyle/>
          <a:p>
            <a:pPr algn="l" indent="0" marL="0">
              <a:buNone/>
            </a:pPr>
            <a:r>
              <a:rPr lang="es-PE" altLang="en-US" sz="1224" u="sng" dirty="0">
                <a:solidFill>
                  <a:srgbClr val="71677B"/>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datos.js · semilla 42 · 10 corridas por tamaño · óptimos de referencia calculados por enumeración.</a:t>
            </a:r>
            <a:endParaRPr lang="es-PE" sz="1224" dirty="0"/>
          </a:p>
        </p:txBody>
      </p:sp>
      <p:sp>
        <p:nvSpPr>
          <p:cNvPr id="9" name="Text 7"/>
          <p:cNvSpPr/>
          <p:nvPr/>
        </p:nvSpPr>
        <p:spPr>
          <a:xfrm>
            <a:off x="12893040" y="7662672"/>
            <a:ext cx="1005840" cy="192756"/>
          </a:xfrm>
          <a:prstGeom prst="rect">
            <a:avLst/>
          </a:prstGeom>
          <a:noFill/>
          <a:ln/>
        </p:spPr>
        <p:txBody>
          <a:bodyPr wrap="none" lIns="0" tIns="0" rIns="0" bIns="0" rtlCol="0" anchor="t"/>
          <a:lstStyle/>
          <a:p>
            <a:pPr algn="r" indent="0" marL="0">
              <a:buNone/>
            </a:pPr>
            <a:r>
              <a:rPr lang="es-PE" altLang="en-US" sz="1224" b="1" dirty="0">
                <a:solidFill>
                  <a:srgbClr val="71677B"/>
                </a:solidFill>
                <a:latin typeface="Arial" pitchFamily="34" charset="0"/>
                <a:ea typeface="Arial" pitchFamily="34" charset="-122"/>
                <a:cs typeface="Arial" pitchFamily="34" charset="-120"/>
              </a:rPr>
              <a:t>05 / 06</a:t>
            </a:r>
            <a:endParaRPr lang="es-PE" sz="1224" dirty="0"/>
          </a:p>
        </p:txBody>
      </p:sp>
      <p:sp>
        <p:nvSpPr>
          <p:cNvPr id="10" name="Text 8"/>
          <p:cNvSpPr/>
          <p:nvPr/>
        </p:nvSpPr>
        <p:spPr>
          <a:xfrm>
            <a:off x="731520" y="1271016"/>
            <a:ext cx="13258800" cy="623621"/>
          </a:xfrm>
          <a:prstGeom prst="rect">
            <a:avLst/>
          </a:prstGeom>
          <a:noFill/>
          <a:ln/>
        </p:spPr>
        <p:txBody>
          <a:bodyPr wrap="none" lIns="0" tIns="0" rIns="0" bIns="0" rtlCol="0" anchor="t"/>
          <a:lstStyle/>
          <a:p>
            <a:pPr algn="l" indent="0" marL="0">
              <a:buNone/>
            </a:pPr>
            <a:r>
              <a:rPr lang="es-PE" altLang="en-US" sz="3960" b="1" dirty="0">
                <a:solidFill>
                  <a:srgbClr val="27163F"/>
                </a:solidFill>
                <a:latin typeface="Arial" pitchFamily="34" charset="0"/>
                <a:ea typeface="Arial" pitchFamily="34" charset="-122"/>
                <a:cs typeface="Arial" pitchFamily="34" charset="-120"/>
              </a:rPr>
              <a:t>Resultados que podemos contrastar</a:t>
            </a:r>
            <a:endParaRPr lang="es-PE" sz="3960" dirty="0"/>
          </a:p>
        </p:txBody>
      </p:sp>
      <p:sp>
        <p:nvSpPr>
          <p:cNvPr id="11" name="Text 9"/>
          <p:cNvSpPr/>
          <p:nvPr/>
        </p:nvSpPr>
        <p:spPr>
          <a:xfrm>
            <a:off x="749808" y="1965960"/>
            <a:ext cx="12984480" cy="294803"/>
          </a:xfrm>
          <a:prstGeom prst="rect">
            <a:avLst/>
          </a:prstGeom>
          <a:noFill/>
          <a:ln/>
        </p:spPr>
        <p:txBody>
          <a:bodyPr wrap="none" lIns="0" tIns="0" rIns="0" bIns="0" rtlCol="0" anchor="t"/>
          <a:lstStyle/>
          <a:p>
            <a:pPr algn="l" indent="0" marL="0">
              <a:buNone/>
            </a:pPr>
            <a:r>
              <a:rPr lang="es-PE" altLang="en-US" sz="1872" dirty="0">
                <a:solidFill>
                  <a:srgbClr val="71677B"/>
                </a:solidFill>
                <a:latin typeface="Arial" pitchFamily="34" charset="0"/>
                <a:ea typeface="Arial" pitchFamily="34" charset="-122"/>
                <a:cs typeface="Arial" pitchFamily="34" charset="-120"/>
              </a:rPr>
              <a:t>Calidad de solución en cuatro instancias sintéticas.</a:t>
            </a:r>
            <a:endParaRPr lang="es-PE" sz="1872" dirty="0"/>
          </a:p>
        </p:txBody>
      </p:sp>
      <p:sp>
        <p:nvSpPr>
          <p:cNvPr id="12" name="Text 10"/>
          <p:cNvSpPr/>
          <p:nvPr/>
        </p:nvSpPr>
        <p:spPr>
          <a:xfrm>
            <a:off x="685800" y="2816352"/>
            <a:ext cx="5760720" cy="1383304"/>
          </a:xfrm>
          <a:prstGeom prst="rect">
            <a:avLst/>
          </a:prstGeom>
          <a:noFill/>
          <a:ln/>
        </p:spPr>
        <p:txBody>
          <a:bodyPr wrap="none" lIns="0" tIns="0" rIns="0" bIns="0" rtlCol="0" anchor="t"/>
          <a:lstStyle/>
          <a:p>
            <a:pPr algn="l" indent="0" marL="0">
              <a:buNone/>
            </a:pPr>
            <a:r>
              <a:rPr lang="es-PE" altLang="en-US" sz="8784" b="1" dirty="0">
                <a:solidFill>
                  <a:srgbClr val="6948AD"/>
                </a:solidFill>
                <a:latin typeface="Arial" pitchFamily="34" charset="0"/>
                <a:ea typeface="Arial" pitchFamily="34" charset="-122"/>
                <a:cs typeface="Arial" pitchFamily="34" charset="-120"/>
              </a:rPr>
              <a:t>40/40</a:t>
            </a:r>
            <a:endParaRPr lang="es-PE" sz="8784" dirty="0"/>
          </a:p>
        </p:txBody>
      </p:sp>
      <p:sp>
        <p:nvSpPr>
          <p:cNvPr id="13" name="Text 11"/>
          <p:cNvSpPr/>
          <p:nvPr/>
        </p:nvSpPr>
        <p:spPr>
          <a:xfrm>
            <a:off x="795528" y="4334256"/>
            <a:ext cx="5074920" cy="430865"/>
          </a:xfrm>
          <a:prstGeom prst="rect">
            <a:avLst/>
          </a:prstGeom>
          <a:noFill/>
          <a:ln/>
        </p:spPr>
        <p:txBody>
          <a:bodyPr wrap="none" lIns="0" tIns="0" rIns="0" bIns="0" rtlCol="0" anchor="t"/>
          <a:lstStyle/>
          <a:p>
            <a:pPr algn="l" indent="0" marL="0">
              <a:buNone/>
            </a:pPr>
            <a:r>
              <a:rPr lang="es-PE" altLang="en-US" sz="2736" b="1" dirty="0">
                <a:solidFill>
                  <a:srgbClr val="27163F"/>
                </a:solidFill>
                <a:latin typeface="Arial" pitchFamily="34" charset="0"/>
                <a:ea typeface="Arial" pitchFamily="34" charset="-122"/>
                <a:cs typeface="Arial" pitchFamily="34" charset="-120"/>
              </a:rPr>
              <a:t>resultados óptimos</a:t>
            </a:r>
            <a:endParaRPr lang="es-PE" sz="2736" dirty="0"/>
          </a:p>
        </p:txBody>
      </p:sp>
      <p:sp>
        <p:nvSpPr>
          <p:cNvPr id="14" name="Text 12"/>
          <p:cNvSpPr/>
          <p:nvPr/>
        </p:nvSpPr>
        <p:spPr>
          <a:xfrm>
            <a:off x="795528" y="4751222"/>
            <a:ext cx="5074920" cy="430865"/>
          </a:xfrm>
          <a:prstGeom prst="rect">
            <a:avLst/>
          </a:prstGeom>
          <a:noFill/>
          <a:ln/>
        </p:spPr>
        <p:txBody>
          <a:bodyPr wrap="none" lIns="0" tIns="0" rIns="0" bIns="0" rtlCol="0" anchor="t"/>
          <a:lstStyle/>
          <a:p>
            <a:pPr algn="l" indent="0" marL="0">
              <a:buNone/>
            </a:pPr>
            <a:r>
              <a:rPr lang="es-PE" altLang="en-US" sz="2736" b="1" dirty="0">
                <a:solidFill>
                  <a:srgbClr val="27163F"/>
                </a:solidFill>
                <a:latin typeface="Arial" pitchFamily="34" charset="0"/>
                <a:ea typeface="Arial" pitchFamily="34" charset="-122"/>
                <a:cs typeface="Arial" pitchFamily="34" charset="-120"/>
              </a:rPr>
              <a:t>registrados</a:t>
            </a:r>
            <a:endParaRPr lang="es-PE" sz="2736" dirty="0"/>
          </a:p>
        </p:txBody>
      </p:sp>
      <p:sp>
        <p:nvSpPr>
          <p:cNvPr id="15" name="Text 13"/>
          <p:cNvSpPr/>
          <p:nvPr/>
        </p:nvSpPr>
        <p:spPr>
          <a:xfrm>
            <a:off x="804672" y="5431536"/>
            <a:ext cx="5074920" cy="283464"/>
          </a:xfrm>
          <a:prstGeom prst="rect">
            <a:avLst/>
          </a:prstGeom>
          <a:noFill/>
          <a:ln/>
        </p:spPr>
        <p:txBody>
          <a:bodyPr wrap="none" lIns="0" tIns="0" rIns="0" bIns="0" rtlCol="0" anchor="t"/>
          <a:lstStyle/>
          <a:p>
            <a:pPr algn="l" indent="0" marL="0">
              <a:buNone/>
            </a:pPr>
            <a:r>
              <a:rPr lang="es-PE" altLang="en-US" sz="1800" dirty="0">
                <a:solidFill>
                  <a:srgbClr val="71677B"/>
                </a:solidFill>
                <a:latin typeface="Arial" pitchFamily="34" charset="0"/>
                <a:ea typeface="Arial" pitchFamily="34" charset="-122"/>
                <a:cs typeface="Arial" pitchFamily="34" charset="-120"/>
              </a:rPr>
              <a:t>Evidencia acotada</a:t>
            </a:r>
            <a:endParaRPr lang="es-PE" sz="1800" dirty="0"/>
          </a:p>
        </p:txBody>
      </p:sp>
      <p:sp>
        <p:nvSpPr>
          <p:cNvPr id="16" name="Text 14"/>
          <p:cNvSpPr/>
          <p:nvPr/>
        </p:nvSpPr>
        <p:spPr>
          <a:xfrm>
            <a:off x="804672" y="5728716"/>
            <a:ext cx="5074920" cy="283464"/>
          </a:xfrm>
          <a:prstGeom prst="rect">
            <a:avLst/>
          </a:prstGeom>
          <a:noFill/>
          <a:ln/>
        </p:spPr>
        <p:txBody>
          <a:bodyPr wrap="none" lIns="0" tIns="0" rIns="0" bIns="0" rtlCol="0" anchor="t"/>
          <a:lstStyle/>
          <a:p>
            <a:pPr algn="l" indent="0" marL="0">
              <a:buNone/>
            </a:pPr>
            <a:r>
              <a:rPr lang="es-PE" altLang="en-US" sz="1800" dirty="0">
                <a:solidFill>
                  <a:srgbClr val="71677B"/>
                </a:solidFill>
                <a:latin typeface="Arial" pitchFamily="34" charset="0"/>
                <a:ea typeface="Arial" pitchFamily="34" charset="-122"/>
                <a:cs typeface="Arial" pitchFamily="34" charset="-120"/>
              </a:rPr>
              <a:t>a estas cuatro instancias.</a:t>
            </a:r>
            <a:endParaRPr lang="es-PE" sz="1800" dirty="0"/>
          </a:p>
        </p:txBody>
      </p:sp>
      <p:sp>
        <p:nvSpPr>
          <p:cNvPr id="17" name="Text 15"/>
          <p:cNvSpPr/>
          <p:nvPr/>
        </p:nvSpPr>
        <p:spPr>
          <a:xfrm>
            <a:off x="6629400" y="2843784"/>
            <a:ext cx="1645920" cy="215433"/>
          </a:xfrm>
          <a:prstGeom prst="rect">
            <a:avLst/>
          </a:prstGeom>
          <a:noFill/>
          <a:ln/>
        </p:spPr>
        <p:txBody>
          <a:bodyPr wrap="none" lIns="0" tIns="0" rIns="0" bIns="0" rtlCol="0" anchor="t"/>
          <a:lstStyle/>
          <a:p>
            <a:pPr algn="l" indent="0" marL="0">
              <a:buNone/>
            </a:pPr>
            <a:r>
              <a:rPr lang="es-PE" altLang="en-US" sz="1368" b="1" dirty="0">
                <a:solidFill>
                  <a:srgbClr val="71677B"/>
                </a:solidFill>
                <a:latin typeface="Arial" pitchFamily="34" charset="0"/>
                <a:ea typeface="Arial" pitchFamily="34" charset="-122"/>
                <a:cs typeface="Arial" pitchFamily="34" charset="-120"/>
              </a:rPr>
              <a:t>TAMAÑO</a:t>
            </a:r>
            <a:endParaRPr lang="es-PE" sz="1368" dirty="0"/>
          </a:p>
        </p:txBody>
      </p:sp>
      <p:sp>
        <p:nvSpPr>
          <p:cNvPr id="18" name="Text 16"/>
          <p:cNvSpPr/>
          <p:nvPr/>
        </p:nvSpPr>
        <p:spPr>
          <a:xfrm>
            <a:off x="8439912" y="2843784"/>
            <a:ext cx="2468880" cy="215433"/>
          </a:xfrm>
          <a:prstGeom prst="rect">
            <a:avLst/>
          </a:prstGeom>
          <a:noFill/>
          <a:ln/>
        </p:spPr>
        <p:txBody>
          <a:bodyPr wrap="none" lIns="0" tIns="0" rIns="0" bIns="0" rtlCol="0" anchor="t"/>
          <a:lstStyle/>
          <a:p>
            <a:pPr algn="l" indent="0" marL="0">
              <a:buNone/>
            </a:pPr>
            <a:r>
              <a:rPr lang="es-PE" altLang="en-US" sz="1368" b="1" dirty="0">
                <a:solidFill>
                  <a:srgbClr val="71677B"/>
                </a:solidFill>
                <a:latin typeface="Arial" pitchFamily="34" charset="0"/>
                <a:ea typeface="Arial" pitchFamily="34" charset="-122"/>
                <a:cs typeface="Arial" pitchFamily="34" charset="-120"/>
              </a:rPr>
              <a:t>COSTE ÓPTIMO</a:t>
            </a:r>
            <a:endParaRPr lang="es-PE" sz="1368" dirty="0"/>
          </a:p>
        </p:txBody>
      </p:sp>
      <p:sp>
        <p:nvSpPr>
          <p:cNvPr id="19" name="Text 17"/>
          <p:cNvSpPr/>
          <p:nvPr/>
        </p:nvSpPr>
        <p:spPr>
          <a:xfrm>
            <a:off x="11237976" y="2843784"/>
            <a:ext cx="2468880" cy="215433"/>
          </a:xfrm>
          <a:prstGeom prst="rect">
            <a:avLst/>
          </a:prstGeom>
          <a:noFill/>
          <a:ln/>
        </p:spPr>
        <p:txBody>
          <a:bodyPr wrap="none" lIns="0" tIns="0" rIns="0" bIns="0" rtlCol="0" anchor="t"/>
          <a:lstStyle/>
          <a:p>
            <a:pPr algn="l" indent="0" marL="0">
              <a:buNone/>
            </a:pPr>
            <a:r>
              <a:rPr lang="es-PE" altLang="en-US" sz="1368" b="1" dirty="0">
                <a:solidFill>
                  <a:srgbClr val="71677B"/>
                </a:solidFill>
                <a:latin typeface="Arial" pitchFamily="34" charset="0"/>
                <a:ea typeface="Arial" pitchFamily="34" charset="-122"/>
                <a:cs typeface="Arial" pitchFamily="34" charset="-120"/>
              </a:rPr>
              <a:t>ACIERTOS</a:t>
            </a:r>
            <a:endParaRPr lang="es-PE" sz="1368" dirty="0"/>
          </a:p>
        </p:txBody>
      </p:sp>
      <p:sp>
        <p:nvSpPr>
          <p:cNvPr id="20" name="Shape 18"/>
          <p:cNvSpPr/>
          <p:nvPr/>
        </p:nvSpPr>
        <p:spPr>
          <a:xfrm>
            <a:off x="6446520" y="3236976"/>
            <a:ext cx="7452360" cy="594360"/>
          </a:xfrm>
          <a:prstGeom prst="rect">
            <a:avLst/>
          </a:prstGeom>
          <a:solidFill>
            <a:srgbClr val="EAE1F3"/>
          </a:solidFill>
          <a:ln w="12700">
            <a:solidFill>
              <a:srgbClr val="EAE1F3">
                <a:alpha val="0"/>
              </a:srgbClr>
            </a:solidFill>
            <a:prstDash val="solid"/>
          </a:ln>
        </p:spPr>
      </p:sp>
      <p:sp>
        <p:nvSpPr>
          <p:cNvPr id="21" name="Text 19"/>
          <p:cNvSpPr/>
          <p:nvPr/>
        </p:nvSpPr>
        <p:spPr>
          <a:xfrm>
            <a:off x="6629400" y="3337560"/>
            <a:ext cx="1645920" cy="351495"/>
          </a:xfrm>
          <a:prstGeom prst="rect">
            <a:avLst/>
          </a:prstGeom>
          <a:noFill/>
          <a:ln/>
        </p:spPr>
        <p:txBody>
          <a:bodyPr wrap="none" lIns="0" tIns="0" rIns="0" bIns="0" rtlCol="0" anchor="t"/>
          <a:lstStyle/>
          <a:p>
            <a:pPr algn="l" indent="0" marL="0">
              <a:buNone/>
            </a:pPr>
            <a:r>
              <a:rPr lang="es-PE" altLang="en-US" sz="2232" b="1" dirty="0">
                <a:solidFill>
                  <a:srgbClr val="27163F"/>
                </a:solidFill>
                <a:latin typeface="Arial" pitchFamily="34" charset="0"/>
                <a:ea typeface="Arial" pitchFamily="34" charset="-122"/>
                <a:cs typeface="Arial" pitchFamily="34" charset="-120"/>
              </a:rPr>
              <a:t>N = 3</a:t>
            </a:r>
            <a:endParaRPr lang="es-PE" sz="2232" dirty="0"/>
          </a:p>
        </p:txBody>
      </p:sp>
      <p:sp>
        <p:nvSpPr>
          <p:cNvPr id="22" name="Text 20"/>
          <p:cNvSpPr/>
          <p:nvPr/>
        </p:nvSpPr>
        <p:spPr>
          <a:xfrm>
            <a:off x="8439912" y="3337560"/>
            <a:ext cx="2468880" cy="351495"/>
          </a:xfrm>
          <a:prstGeom prst="rect">
            <a:avLst/>
          </a:prstGeom>
          <a:noFill/>
          <a:ln/>
        </p:spPr>
        <p:txBody>
          <a:bodyPr wrap="none" lIns="0" tIns="0" rIns="0" bIns="0" rtlCol="0" anchor="t"/>
          <a:lstStyle/>
          <a:p>
            <a:pPr algn="l" indent="0" marL="0">
              <a:buNone/>
            </a:pPr>
            <a:r>
              <a:rPr lang="es-PE" altLang="en-US" sz="2232" b="1" dirty="0">
                <a:solidFill>
                  <a:srgbClr val="27163F"/>
                </a:solidFill>
                <a:latin typeface="Arial" pitchFamily="34" charset="0"/>
                <a:ea typeface="Arial" pitchFamily="34" charset="-122"/>
                <a:cs typeface="Arial" pitchFamily="34" charset="-120"/>
              </a:rPr>
              <a:t>285</a:t>
            </a:r>
            <a:endParaRPr lang="es-PE" sz="2232" dirty="0"/>
          </a:p>
        </p:txBody>
      </p:sp>
      <p:sp>
        <p:nvSpPr>
          <p:cNvPr id="23" name="Text 21"/>
          <p:cNvSpPr/>
          <p:nvPr/>
        </p:nvSpPr>
        <p:spPr>
          <a:xfrm>
            <a:off x="11237976" y="3337560"/>
            <a:ext cx="2468880" cy="351495"/>
          </a:xfrm>
          <a:prstGeom prst="rect">
            <a:avLst/>
          </a:prstGeom>
          <a:noFill/>
          <a:ln/>
        </p:spPr>
        <p:txBody>
          <a:bodyPr wrap="none" lIns="0" tIns="0" rIns="0" bIns="0" rtlCol="0" anchor="t"/>
          <a:lstStyle/>
          <a:p>
            <a:pPr algn="l" indent="0" marL="0">
              <a:buNone/>
            </a:pPr>
            <a:r>
              <a:rPr lang="es-PE" altLang="en-US" sz="2232" b="1" dirty="0">
                <a:solidFill>
                  <a:srgbClr val="27163F"/>
                </a:solidFill>
                <a:latin typeface="Arial" pitchFamily="34" charset="0"/>
                <a:ea typeface="Arial" pitchFamily="34" charset="-122"/>
                <a:cs typeface="Arial" pitchFamily="34" charset="-120"/>
              </a:rPr>
              <a:t>10 / 10</a:t>
            </a:r>
            <a:endParaRPr lang="es-PE" sz="2232" dirty="0"/>
          </a:p>
        </p:txBody>
      </p:sp>
      <p:sp>
        <p:nvSpPr>
          <p:cNvPr id="24" name="Shape 22"/>
          <p:cNvSpPr/>
          <p:nvPr/>
        </p:nvSpPr>
        <p:spPr>
          <a:xfrm>
            <a:off x="6446520" y="3858768"/>
            <a:ext cx="7452360" cy="0"/>
          </a:xfrm>
          <a:prstGeom prst="line">
            <a:avLst/>
          </a:prstGeom>
          <a:noFill/>
          <a:ln w="9144">
            <a:solidFill>
              <a:srgbClr val="DCD3E3"/>
            </a:solidFill>
            <a:prstDash val="solid"/>
          </a:ln>
        </p:spPr>
      </p:sp>
      <p:sp>
        <p:nvSpPr>
          <p:cNvPr id="25" name="Shape 23"/>
          <p:cNvSpPr/>
          <p:nvPr/>
        </p:nvSpPr>
        <p:spPr>
          <a:xfrm>
            <a:off x="6446520" y="3931920"/>
            <a:ext cx="7452360" cy="594360"/>
          </a:xfrm>
          <a:prstGeom prst="rect">
            <a:avLst/>
          </a:prstGeom>
          <a:solidFill>
            <a:srgbClr val="EAE1F3"/>
          </a:solidFill>
          <a:ln w="12700">
            <a:solidFill>
              <a:srgbClr val="EAE1F3">
                <a:alpha val="0"/>
              </a:srgbClr>
            </a:solidFill>
            <a:prstDash val="solid"/>
          </a:ln>
        </p:spPr>
      </p:sp>
      <p:sp>
        <p:nvSpPr>
          <p:cNvPr id="26" name="Text 24"/>
          <p:cNvSpPr/>
          <p:nvPr/>
        </p:nvSpPr>
        <p:spPr>
          <a:xfrm>
            <a:off x="6629400" y="4032504"/>
            <a:ext cx="1645920" cy="351495"/>
          </a:xfrm>
          <a:prstGeom prst="rect">
            <a:avLst/>
          </a:prstGeom>
          <a:noFill/>
          <a:ln/>
        </p:spPr>
        <p:txBody>
          <a:bodyPr wrap="none" lIns="0" tIns="0" rIns="0" bIns="0" rtlCol="0" anchor="t"/>
          <a:lstStyle/>
          <a:p>
            <a:pPr algn="l" indent="0" marL="0">
              <a:buNone/>
            </a:pPr>
            <a:r>
              <a:rPr lang="es-PE" altLang="en-US" sz="2232" b="1" dirty="0">
                <a:solidFill>
                  <a:srgbClr val="27163F"/>
                </a:solidFill>
                <a:latin typeface="Arial" pitchFamily="34" charset="0"/>
                <a:ea typeface="Arial" pitchFamily="34" charset="-122"/>
                <a:cs typeface="Arial" pitchFamily="34" charset="-120"/>
              </a:rPr>
              <a:t>N = 4</a:t>
            </a:r>
            <a:endParaRPr lang="es-PE" sz="2232" dirty="0"/>
          </a:p>
        </p:txBody>
      </p:sp>
      <p:sp>
        <p:nvSpPr>
          <p:cNvPr id="27" name="Text 25"/>
          <p:cNvSpPr/>
          <p:nvPr/>
        </p:nvSpPr>
        <p:spPr>
          <a:xfrm>
            <a:off x="8439912" y="4032504"/>
            <a:ext cx="2468880" cy="351495"/>
          </a:xfrm>
          <a:prstGeom prst="rect">
            <a:avLst/>
          </a:prstGeom>
          <a:noFill/>
          <a:ln/>
        </p:spPr>
        <p:txBody>
          <a:bodyPr wrap="none" lIns="0" tIns="0" rIns="0" bIns="0" rtlCol="0" anchor="t"/>
          <a:lstStyle/>
          <a:p>
            <a:pPr algn="l" indent="0" marL="0">
              <a:buNone/>
            </a:pPr>
            <a:r>
              <a:rPr lang="es-PE" altLang="en-US" sz="2232" b="1" dirty="0">
                <a:solidFill>
                  <a:srgbClr val="27163F"/>
                </a:solidFill>
                <a:latin typeface="Arial" pitchFamily="34" charset="0"/>
                <a:ea typeface="Arial" pitchFamily="34" charset="-122"/>
                <a:cs typeface="Arial" pitchFamily="34" charset="-120"/>
              </a:rPr>
              <a:t>202</a:t>
            </a:r>
            <a:endParaRPr lang="es-PE" sz="2232" dirty="0"/>
          </a:p>
        </p:txBody>
      </p:sp>
      <p:sp>
        <p:nvSpPr>
          <p:cNvPr id="28" name="Text 26"/>
          <p:cNvSpPr/>
          <p:nvPr/>
        </p:nvSpPr>
        <p:spPr>
          <a:xfrm>
            <a:off x="11237976" y="4032504"/>
            <a:ext cx="2468880" cy="351495"/>
          </a:xfrm>
          <a:prstGeom prst="rect">
            <a:avLst/>
          </a:prstGeom>
          <a:noFill/>
          <a:ln/>
        </p:spPr>
        <p:txBody>
          <a:bodyPr wrap="none" lIns="0" tIns="0" rIns="0" bIns="0" rtlCol="0" anchor="t"/>
          <a:lstStyle/>
          <a:p>
            <a:pPr algn="l" indent="0" marL="0">
              <a:buNone/>
            </a:pPr>
            <a:r>
              <a:rPr lang="es-PE" altLang="en-US" sz="2232" b="1" dirty="0">
                <a:solidFill>
                  <a:srgbClr val="27163F"/>
                </a:solidFill>
                <a:latin typeface="Arial" pitchFamily="34" charset="0"/>
                <a:ea typeface="Arial" pitchFamily="34" charset="-122"/>
                <a:cs typeface="Arial" pitchFamily="34" charset="-120"/>
              </a:rPr>
              <a:t>10 / 10</a:t>
            </a:r>
            <a:endParaRPr lang="es-PE" sz="2232" dirty="0"/>
          </a:p>
        </p:txBody>
      </p:sp>
      <p:sp>
        <p:nvSpPr>
          <p:cNvPr id="29" name="Shape 27"/>
          <p:cNvSpPr/>
          <p:nvPr/>
        </p:nvSpPr>
        <p:spPr>
          <a:xfrm>
            <a:off x="6446520" y="4553712"/>
            <a:ext cx="7452360" cy="0"/>
          </a:xfrm>
          <a:prstGeom prst="line">
            <a:avLst/>
          </a:prstGeom>
          <a:noFill/>
          <a:ln w="9144">
            <a:solidFill>
              <a:srgbClr val="DCD3E3"/>
            </a:solidFill>
            <a:prstDash val="solid"/>
          </a:ln>
        </p:spPr>
      </p:sp>
      <p:sp>
        <p:nvSpPr>
          <p:cNvPr id="30" name="Text 28"/>
          <p:cNvSpPr/>
          <p:nvPr/>
        </p:nvSpPr>
        <p:spPr>
          <a:xfrm>
            <a:off x="6629400" y="4727448"/>
            <a:ext cx="1645920" cy="351495"/>
          </a:xfrm>
          <a:prstGeom prst="rect">
            <a:avLst/>
          </a:prstGeom>
          <a:noFill/>
          <a:ln/>
        </p:spPr>
        <p:txBody>
          <a:bodyPr wrap="none" lIns="0" tIns="0" rIns="0" bIns="0" rtlCol="0" anchor="t"/>
          <a:lstStyle/>
          <a:p>
            <a:pPr algn="l" indent="0" marL="0">
              <a:buNone/>
            </a:pPr>
            <a:r>
              <a:rPr lang="es-PE" altLang="en-US" sz="2232" dirty="0">
                <a:solidFill>
                  <a:srgbClr val="27163F"/>
                </a:solidFill>
                <a:latin typeface="Arial" pitchFamily="34" charset="0"/>
                <a:ea typeface="Arial" pitchFamily="34" charset="-122"/>
                <a:cs typeface="Arial" pitchFamily="34" charset="-120"/>
              </a:rPr>
              <a:t>N = 5</a:t>
            </a:r>
            <a:endParaRPr lang="es-PE" sz="2232" dirty="0"/>
          </a:p>
        </p:txBody>
      </p:sp>
      <p:sp>
        <p:nvSpPr>
          <p:cNvPr id="31" name="Text 29"/>
          <p:cNvSpPr/>
          <p:nvPr/>
        </p:nvSpPr>
        <p:spPr>
          <a:xfrm>
            <a:off x="8439912" y="4727448"/>
            <a:ext cx="2468880" cy="351495"/>
          </a:xfrm>
          <a:prstGeom prst="rect">
            <a:avLst/>
          </a:prstGeom>
          <a:noFill/>
          <a:ln/>
        </p:spPr>
        <p:txBody>
          <a:bodyPr wrap="none" lIns="0" tIns="0" rIns="0" bIns="0" rtlCol="0" anchor="t"/>
          <a:lstStyle/>
          <a:p>
            <a:pPr algn="l" indent="0" marL="0">
              <a:buNone/>
            </a:pPr>
            <a:r>
              <a:rPr lang="es-PE" altLang="en-US" sz="2232" dirty="0">
                <a:solidFill>
                  <a:srgbClr val="27163F"/>
                </a:solidFill>
                <a:latin typeface="Arial" pitchFamily="34" charset="0"/>
                <a:ea typeface="Arial" pitchFamily="34" charset="-122"/>
                <a:cs typeface="Arial" pitchFamily="34" charset="-120"/>
              </a:rPr>
              <a:t>415</a:t>
            </a:r>
            <a:endParaRPr lang="es-PE" sz="2232" dirty="0"/>
          </a:p>
        </p:txBody>
      </p:sp>
      <p:sp>
        <p:nvSpPr>
          <p:cNvPr id="32" name="Text 30"/>
          <p:cNvSpPr/>
          <p:nvPr/>
        </p:nvSpPr>
        <p:spPr>
          <a:xfrm>
            <a:off x="11237976" y="4727448"/>
            <a:ext cx="2468880" cy="351495"/>
          </a:xfrm>
          <a:prstGeom prst="rect">
            <a:avLst/>
          </a:prstGeom>
          <a:noFill/>
          <a:ln/>
        </p:spPr>
        <p:txBody>
          <a:bodyPr wrap="none" lIns="0" tIns="0" rIns="0" bIns="0" rtlCol="0" anchor="t"/>
          <a:lstStyle/>
          <a:p>
            <a:pPr algn="l" indent="0" marL="0">
              <a:buNone/>
            </a:pPr>
            <a:r>
              <a:rPr lang="es-PE" altLang="en-US" sz="2232" dirty="0">
                <a:solidFill>
                  <a:srgbClr val="27163F"/>
                </a:solidFill>
                <a:latin typeface="Arial" pitchFamily="34" charset="0"/>
                <a:ea typeface="Arial" pitchFamily="34" charset="-122"/>
                <a:cs typeface="Arial" pitchFamily="34" charset="-120"/>
              </a:rPr>
              <a:t>10 / 10</a:t>
            </a:r>
            <a:endParaRPr lang="es-PE" sz="2232" dirty="0"/>
          </a:p>
        </p:txBody>
      </p:sp>
      <p:sp>
        <p:nvSpPr>
          <p:cNvPr id="33" name="Shape 31"/>
          <p:cNvSpPr/>
          <p:nvPr/>
        </p:nvSpPr>
        <p:spPr>
          <a:xfrm>
            <a:off x="6446520" y="5248656"/>
            <a:ext cx="7452360" cy="0"/>
          </a:xfrm>
          <a:prstGeom prst="line">
            <a:avLst/>
          </a:prstGeom>
          <a:noFill/>
          <a:ln w="9144">
            <a:solidFill>
              <a:srgbClr val="DCD3E3"/>
            </a:solidFill>
            <a:prstDash val="solid"/>
          </a:ln>
        </p:spPr>
      </p:sp>
      <p:sp>
        <p:nvSpPr>
          <p:cNvPr id="34" name="Text 32"/>
          <p:cNvSpPr/>
          <p:nvPr/>
        </p:nvSpPr>
        <p:spPr>
          <a:xfrm>
            <a:off x="6629400" y="5422392"/>
            <a:ext cx="1645920" cy="351495"/>
          </a:xfrm>
          <a:prstGeom prst="rect">
            <a:avLst/>
          </a:prstGeom>
          <a:noFill/>
          <a:ln/>
        </p:spPr>
        <p:txBody>
          <a:bodyPr wrap="none" lIns="0" tIns="0" rIns="0" bIns="0" rtlCol="0" anchor="t"/>
          <a:lstStyle/>
          <a:p>
            <a:pPr algn="l" indent="0" marL="0">
              <a:buNone/>
            </a:pPr>
            <a:r>
              <a:rPr lang="es-PE" altLang="en-US" sz="2232" dirty="0">
                <a:solidFill>
                  <a:srgbClr val="27163F"/>
                </a:solidFill>
                <a:latin typeface="Arial" pitchFamily="34" charset="0"/>
                <a:ea typeface="Arial" pitchFamily="34" charset="-122"/>
                <a:cs typeface="Arial" pitchFamily="34" charset="-120"/>
              </a:rPr>
              <a:t>N = 6</a:t>
            </a:r>
            <a:endParaRPr lang="es-PE" sz="2232" dirty="0"/>
          </a:p>
        </p:txBody>
      </p:sp>
      <p:sp>
        <p:nvSpPr>
          <p:cNvPr id="35" name="Text 33"/>
          <p:cNvSpPr/>
          <p:nvPr/>
        </p:nvSpPr>
        <p:spPr>
          <a:xfrm>
            <a:off x="8439912" y="5422392"/>
            <a:ext cx="2468880" cy="351495"/>
          </a:xfrm>
          <a:prstGeom prst="rect">
            <a:avLst/>
          </a:prstGeom>
          <a:noFill/>
          <a:ln/>
        </p:spPr>
        <p:txBody>
          <a:bodyPr wrap="none" lIns="0" tIns="0" rIns="0" bIns="0" rtlCol="0" anchor="t"/>
          <a:lstStyle/>
          <a:p>
            <a:pPr algn="l" indent="0" marL="0">
              <a:buNone/>
            </a:pPr>
            <a:r>
              <a:rPr lang="es-PE" altLang="en-US" sz="2232" dirty="0">
                <a:solidFill>
                  <a:srgbClr val="27163F"/>
                </a:solidFill>
                <a:latin typeface="Arial" pitchFamily="34" charset="0"/>
                <a:ea typeface="Arial" pitchFamily="34" charset="-122"/>
                <a:cs typeface="Arial" pitchFamily="34" charset="-120"/>
              </a:rPr>
              <a:t>933</a:t>
            </a:r>
            <a:endParaRPr lang="es-PE" sz="2232" dirty="0"/>
          </a:p>
        </p:txBody>
      </p:sp>
      <p:sp>
        <p:nvSpPr>
          <p:cNvPr id="36" name="Text 34"/>
          <p:cNvSpPr/>
          <p:nvPr/>
        </p:nvSpPr>
        <p:spPr>
          <a:xfrm>
            <a:off x="11237976" y="5422392"/>
            <a:ext cx="2468880" cy="351495"/>
          </a:xfrm>
          <a:prstGeom prst="rect">
            <a:avLst/>
          </a:prstGeom>
          <a:noFill/>
          <a:ln/>
        </p:spPr>
        <p:txBody>
          <a:bodyPr wrap="none" lIns="0" tIns="0" rIns="0" bIns="0" rtlCol="0" anchor="t"/>
          <a:lstStyle/>
          <a:p>
            <a:pPr algn="l" indent="0" marL="0">
              <a:buNone/>
            </a:pPr>
            <a:r>
              <a:rPr lang="es-PE" altLang="en-US" sz="2232" dirty="0">
                <a:solidFill>
                  <a:srgbClr val="27163F"/>
                </a:solidFill>
                <a:latin typeface="Arial" pitchFamily="34" charset="0"/>
                <a:ea typeface="Arial" pitchFamily="34" charset="-122"/>
                <a:cs typeface="Arial" pitchFamily="34" charset="-120"/>
              </a:rPr>
              <a:t>10 / 10</a:t>
            </a:r>
            <a:endParaRPr lang="es-PE" sz="2232" dirty="0"/>
          </a:p>
        </p:txBody>
      </p:sp>
      <p:sp>
        <p:nvSpPr>
          <p:cNvPr id="37" name="Shape 35"/>
          <p:cNvSpPr/>
          <p:nvPr/>
        </p:nvSpPr>
        <p:spPr>
          <a:xfrm>
            <a:off x="6446520" y="5943600"/>
            <a:ext cx="7452360" cy="0"/>
          </a:xfrm>
          <a:prstGeom prst="line">
            <a:avLst/>
          </a:prstGeom>
          <a:noFill/>
          <a:ln w="9144">
            <a:solidFill>
              <a:srgbClr val="DCD3E3"/>
            </a:solidFill>
            <a:prstDash val="solid"/>
          </a:ln>
        </p:spPr>
      </p:sp>
      <p:sp>
        <p:nvSpPr>
          <p:cNvPr id="38" name="Shape 36"/>
          <p:cNvSpPr/>
          <p:nvPr/>
        </p:nvSpPr>
        <p:spPr>
          <a:xfrm>
            <a:off x="731520" y="6437376"/>
            <a:ext cx="13167360" cy="758952"/>
          </a:xfrm>
          <a:prstGeom prst="rect">
            <a:avLst/>
          </a:prstGeom>
          <a:solidFill>
            <a:srgbClr val="F6E8CE"/>
          </a:solidFill>
          <a:ln w="12700">
            <a:solidFill>
              <a:srgbClr val="F6E8CE">
                <a:alpha val="0"/>
              </a:srgbClr>
            </a:solidFill>
            <a:prstDash val="solid"/>
          </a:ln>
        </p:spPr>
      </p:sp>
      <p:sp>
        <p:nvSpPr>
          <p:cNvPr id="39" name="Shape 37"/>
          <p:cNvSpPr/>
          <p:nvPr/>
        </p:nvSpPr>
        <p:spPr>
          <a:xfrm>
            <a:off x="731520" y="6437376"/>
            <a:ext cx="45720" cy="758952"/>
          </a:xfrm>
          <a:prstGeom prst="rect">
            <a:avLst/>
          </a:prstGeom>
          <a:solidFill>
            <a:srgbClr val="9C6423"/>
          </a:solidFill>
          <a:ln w="12700">
            <a:solidFill>
              <a:srgbClr val="9C6423">
                <a:alpha val="0"/>
              </a:srgbClr>
            </a:solidFill>
            <a:prstDash val="solid"/>
          </a:ln>
        </p:spPr>
      </p:sp>
      <p:sp>
        <p:nvSpPr>
          <p:cNvPr id="40" name="Text 38"/>
          <p:cNvSpPr/>
          <p:nvPr/>
        </p:nvSpPr>
        <p:spPr>
          <a:xfrm>
            <a:off x="932688" y="6583680"/>
            <a:ext cx="4526280" cy="215433"/>
          </a:xfrm>
          <a:prstGeom prst="rect">
            <a:avLst/>
          </a:prstGeom>
          <a:noFill/>
          <a:ln/>
        </p:spPr>
        <p:txBody>
          <a:bodyPr wrap="none" lIns="0" tIns="0" rIns="0" bIns="0" rtlCol="0" anchor="t"/>
          <a:lstStyle/>
          <a:p>
            <a:pPr algn="l" indent="0" marL="0">
              <a:buNone/>
            </a:pPr>
            <a:r>
              <a:rPr lang="es-PE" altLang="en-US" sz="1368" b="1" dirty="0">
                <a:solidFill>
                  <a:srgbClr val="9C6423"/>
                </a:solidFill>
                <a:latin typeface="Arial" pitchFamily="34" charset="0"/>
                <a:ea typeface="Arial" pitchFamily="34" charset="-122"/>
                <a:cs typeface="Arial" pitchFamily="34" charset="-120"/>
              </a:rPr>
              <a:t>ESCALABILIDAD PARA LA FINAL</a:t>
            </a:r>
            <a:endParaRPr lang="es-PE" sz="1368" dirty="0"/>
          </a:p>
        </p:txBody>
      </p:sp>
      <p:sp>
        <p:nvSpPr>
          <p:cNvPr id="41" name="Text 39"/>
          <p:cNvSpPr/>
          <p:nvPr/>
        </p:nvSpPr>
        <p:spPr>
          <a:xfrm>
            <a:off x="5568696" y="6684264"/>
            <a:ext cx="7955280" cy="283464"/>
          </a:xfrm>
          <a:prstGeom prst="rect">
            <a:avLst/>
          </a:prstGeom>
          <a:noFill/>
          <a:ln/>
        </p:spPr>
        <p:txBody>
          <a:bodyPr wrap="none" lIns="0" tIns="0" rIns="0" bIns="0" rtlCol="0" anchor="t"/>
          <a:lstStyle/>
          <a:p>
            <a:pPr algn="l" indent="0" marL="0">
              <a:buNone/>
            </a:pPr>
            <a:r>
              <a:rPr lang="es-PE" altLang="en-US" sz="1800" b="1" dirty="0">
                <a:solidFill>
                  <a:srgbClr val="27163F"/>
                </a:solidFill>
                <a:latin typeface="Arial" pitchFamily="34" charset="0"/>
                <a:ea typeface="Arial" pitchFamily="34" charset="-122"/>
                <a:cs typeface="Arial" pitchFamily="34" charset="-120"/>
              </a:rPr>
              <a:t>N = 10 / N ≥ 14: resultados del equipo pendientes de integrar.</a:t>
            </a:r>
            <a:endParaRPr lang="es-PE"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7163F"/>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7163F"/>
          </a:solidFill>
          <a:ln w="12700">
            <a:solidFill>
              <a:srgbClr val="27163F">
                <a:alpha val="0"/>
              </a:srgbClr>
            </a:solidFill>
            <a:prstDash val="solid"/>
          </a:ln>
        </p:spPr>
      </p:sp>
      <p:sp>
        <p:nvSpPr>
          <p:cNvPr id="3" name="Text 1"/>
          <p:cNvSpPr/>
          <p:nvPr/>
        </p:nvSpPr>
        <p:spPr>
          <a:xfrm>
            <a:off x="731520" y="393192"/>
            <a:ext cx="1920240" cy="317480"/>
          </a:xfrm>
          <a:prstGeom prst="rect">
            <a:avLst/>
          </a:prstGeom>
          <a:noFill/>
          <a:ln/>
        </p:spPr>
        <p:txBody>
          <a:bodyPr wrap="none" lIns="0" tIns="0" rIns="0" bIns="0" rtlCol="0" anchor="t"/>
          <a:lstStyle/>
          <a:p>
            <a:pPr algn="l" indent="0" marL="0">
              <a:buNone/>
            </a:pPr>
            <a:r>
              <a:rPr lang="es-PE" altLang="en-US" sz="2016" b="1" dirty="0">
                <a:solidFill>
                  <a:srgbClr val="F8F4ED"/>
                </a:solidFill>
                <a:latin typeface="Arial" pitchFamily="34" charset="0"/>
                <a:ea typeface="Arial" pitchFamily="34" charset="-122"/>
                <a:cs typeface="Arial" pitchFamily="34" charset="-120"/>
              </a:rPr>
              <a:t>Q-Niño</a:t>
            </a:r>
            <a:endParaRPr lang="es-PE" sz="2016" dirty="0"/>
          </a:p>
        </p:txBody>
      </p:sp>
      <p:sp>
        <p:nvSpPr>
          <p:cNvPr id="4" name="Text 2"/>
          <p:cNvSpPr/>
          <p:nvPr/>
        </p:nvSpPr>
        <p:spPr>
          <a:xfrm>
            <a:off x="2651760" y="448056"/>
            <a:ext cx="3108960" cy="215433"/>
          </a:xfrm>
          <a:prstGeom prst="rect">
            <a:avLst/>
          </a:prstGeom>
          <a:noFill/>
          <a:ln/>
        </p:spPr>
        <p:txBody>
          <a:bodyPr wrap="none" lIns="0" tIns="0" rIns="0" bIns="0" rtlCol="0" anchor="t"/>
          <a:lstStyle/>
          <a:p>
            <a:pPr algn="l" indent="0" marL="0">
              <a:buNone/>
            </a:pPr>
            <a:r>
              <a:rPr lang="es-PE" altLang="en-US" sz="1368" b="1" dirty="0">
                <a:solidFill>
                  <a:srgbClr val="D8C9F1"/>
                </a:solidFill>
                <a:latin typeface="Arial" pitchFamily="34" charset="0"/>
                <a:ea typeface="Arial" pitchFamily="34" charset="-122"/>
                <a:cs typeface="Arial" pitchFamily="34" charset="-120"/>
              </a:rPr>
              <a:t>QUANTUM ACTION</a:t>
            </a:r>
            <a:endParaRPr lang="es-PE" sz="1368" dirty="0"/>
          </a:p>
        </p:txBody>
      </p:sp>
      <p:sp>
        <p:nvSpPr>
          <p:cNvPr id="5" name="Text 3"/>
          <p:cNvSpPr/>
          <p:nvPr/>
        </p:nvSpPr>
        <p:spPr>
          <a:xfrm>
            <a:off x="9829800" y="448056"/>
            <a:ext cx="4069080" cy="215433"/>
          </a:xfrm>
          <a:prstGeom prst="rect">
            <a:avLst/>
          </a:prstGeom>
          <a:noFill/>
          <a:ln/>
        </p:spPr>
        <p:txBody>
          <a:bodyPr wrap="none" lIns="0" tIns="0" rIns="0" bIns="0" rtlCol="0" anchor="t"/>
          <a:lstStyle/>
          <a:p>
            <a:pPr algn="r" indent="0" marL="0">
              <a:buNone/>
            </a:pPr>
            <a:r>
              <a:rPr lang="es-PE" altLang="en-US" sz="1368" dirty="0">
                <a:solidFill>
                  <a:srgbClr val="D8C9F1"/>
                </a:solidFill>
                <a:latin typeface="Arial" pitchFamily="34" charset="0"/>
                <a:ea typeface="Arial" pitchFamily="34" charset="-122"/>
                <a:cs typeface="Arial" pitchFamily="34" charset="-120"/>
              </a:rPr>
              <a:t>QISKIT FALL FEST 2026 · FINAL</a:t>
            </a:r>
            <a:endParaRPr lang="es-PE" sz="1368" dirty="0"/>
          </a:p>
        </p:txBody>
      </p:sp>
      <p:sp>
        <p:nvSpPr>
          <p:cNvPr id="6" name="Shape 4"/>
          <p:cNvSpPr/>
          <p:nvPr/>
        </p:nvSpPr>
        <p:spPr>
          <a:xfrm>
            <a:off x="731520" y="905256"/>
            <a:ext cx="13167360" cy="0"/>
          </a:xfrm>
          <a:prstGeom prst="line">
            <a:avLst/>
          </a:prstGeom>
          <a:noFill/>
          <a:ln w="13716">
            <a:solidFill>
              <a:srgbClr val="544366"/>
            </a:solidFill>
            <a:prstDash val="solid"/>
          </a:ln>
        </p:spPr>
      </p:sp>
      <p:sp>
        <p:nvSpPr>
          <p:cNvPr id="7" name="Shape 5"/>
          <p:cNvSpPr/>
          <p:nvPr/>
        </p:nvSpPr>
        <p:spPr>
          <a:xfrm>
            <a:off x="731520" y="7470648"/>
            <a:ext cx="13167360" cy="0"/>
          </a:xfrm>
          <a:prstGeom prst="line">
            <a:avLst/>
          </a:prstGeom>
          <a:noFill/>
          <a:ln w="13716">
            <a:solidFill>
              <a:srgbClr val="544366"/>
            </a:solidFill>
            <a:prstDash val="solid"/>
          </a:ln>
        </p:spPr>
      </p:sp>
      <p:sp>
        <p:nvSpPr>
          <p:cNvPr id="8" name="Text 6">
            <a:hlinkClick r:id="rId1" tooltip=""/>
          </p:cNvPr>
          <p:cNvSpPr/>
          <p:nvPr/>
        </p:nvSpPr>
        <p:spPr>
          <a:xfrm>
            <a:off x="731520" y="7662672"/>
            <a:ext cx="12070080" cy="192756"/>
          </a:xfrm>
          <a:prstGeom prst="rect">
            <a:avLst/>
          </a:prstGeom>
          <a:noFill/>
          <a:ln/>
        </p:spPr>
        <p:txBody>
          <a:bodyPr wrap="none" lIns="0" tIns="0" rIns="0" bIns="0" rtlCol="0" anchor="t"/>
          <a:lstStyle/>
          <a:p>
            <a:pPr algn="l" indent="0" marL="0">
              <a:buNone/>
            </a:pPr>
            <a:r>
              <a:rPr lang="es-PE" altLang="en-US" sz="1224" u="sng" dirty="0">
                <a:solidFill>
                  <a:srgbClr val="D8C9F1"/>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Ventaja de consultas teórica frente a búsqueda sin estructura. Ahorro total y tiempo en QPU por medir.</a:t>
            </a:r>
            <a:endParaRPr lang="es-PE" sz="1224" dirty="0"/>
          </a:p>
        </p:txBody>
      </p:sp>
      <p:sp>
        <p:nvSpPr>
          <p:cNvPr id="9" name="Text 7"/>
          <p:cNvSpPr/>
          <p:nvPr/>
        </p:nvSpPr>
        <p:spPr>
          <a:xfrm>
            <a:off x="12893040" y="7662672"/>
            <a:ext cx="1005840" cy="192756"/>
          </a:xfrm>
          <a:prstGeom prst="rect">
            <a:avLst/>
          </a:prstGeom>
          <a:noFill/>
          <a:ln/>
        </p:spPr>
        <p:txBody>
          <a:bodyPr wrap="none" lIns="0" tIns="0" rIns="0" bIns="0" rtlCol="0" anchor="t"/>
          <a:lstStyle/>
          <a:p>
            <a:pPr algn="r" indent="0" marL="0">
              <a:buNone/>
            </a:pPr>
            <a:r>
              <a:rPr lang="es-PE" altLang="en-US" sz="1224" b="1" dirty="0">
                <a:solidFill>
                  <a:srgbClr val="D8C9F1"/>
                </a:solidFill>
                <a:latin typeface="Arial" pitchFamily="34" charset="0"/>
                <a:ea typeface="Arial" pitchFamily="34" charset="-122"/>
                <a:cs typeface="Arial" pitchFamily="34" charset="-120"/>
              </a:rPr>
              <a:t>06 / 06</a:t>
            </a:r>
            <a:endParaRPr lang="es-PE" sz="1224" dirty="0"/>
          </a:p>
        </p:txBody>
      </p:sp>
      <p:sp>
        <p:nvSpPr>
          <p:cNvPr id="10" name="Text 8"/>
          <p:cNvSpPr/>
          <p:nvPr/>
        </p:nvSpPr>
        <p:spPr>
          <a:xfrm>
            <a:off x="731520" y="1271016"/>
            <a:ext cx="13258800" cy="623621"/>
          </a:xfrm>
          <a:prstGeom prst="rect">
            <a:avLst/>
          </a:prstGeom>
          <a:noFill/>
          <a:ln/>
        </p:spPr>
        <p:txBody>
          <a:bodyPr wrap="none" lIns="0" tIns="0" rIns="0" bIns="0" rtlCol="0" anchor="t"/>
          <a:lstStyle/>
          <a:p>
            <a:pPr algn="l" indent="0" marL="0">
              <a:buNone/>
            </a:pPr>
            <a:r>
              <a:rPr lang="es-PE" altLang="en-US" sz="3960" b="1" dirty="0">
                <a:solidFill>
                  <a:srgbClr val="F8F4ED"/>
                </a:solidFill>
                <a:latin typeface="Arial" pitchFamily="34" charset="0"/>
                <a:ea typeface="Arial" pitchFamily="34" charset="-122"/>
                <a:cs typeface="Arial" pitchFamily="34" charset="-120"/>
              </a:rPr>
              <a:t>Cada decisión puede revisarse.</a:t>
            </a:r>
            <a:endParaRPr lang="es-PE" sz="3960" dirty="0"/>
          </a:p>
        </p:txBody>
      </p:sp>
      <p:sp>
        <p:nvSpPr>
          <p:cNvPr id="11" name="Text 9"/>
          <p:cNvSpPr/>
          <p:nvPr/>
        </p:nvSpPr>
        <p:spPr>
          <a:xfrm>
            <a:off x="749808" y="1965960"/>
            <a:ext cx="12984480" cy="294803"/>
          </a:xfrm>
          <a:prstGeom prst="rect">
            <a:avLst/>
          </a:prstGeom>
          <a:noFill/>
          <a:ln/>
        </p:spPr>
        <p:txBody>
          <a:bodyPr wrap="none" lIns="0" tIns="0" rIns="0" bIns="0" rtlCol="0" anchor="t"/>
          <a:lstStyle/>
          <a:p>
            <a:pPr algn="l" indent="0" marL="0">
              <a:buNone/>
            </a:pPr>
            <a:r>
              <a:rPr lang="es-PE" altLang="en-US" sz="1872" dirty="0">
                <a:solidFill>
                  <a:srgbClr val="D8C9F1"/>
                </a:solidFill>
                <a:latin typeface="Arial" pitchFamily="34" charset="0"/>
                <a:ea typeface="Arial" pitchFamily="34" charset="-122"/>
                <a:cs typeface="Arial" pitchFamily="34" charset="-120"/>
              </a:rPr>
              <a:t>La oportunidad es volver a decidir cuando cambie la información.</a:t>
            </a:r>
            <a:endParaRPr lang="es-PE" sz="1872" dirty="0"/>
          </a:p>
        </p:txBody>
      </p:sp>
      <p:sp>
        <p:nvSpPr>
          <p:cNvPr id="12" name="Shape 10"/>
          <p:cNvSpPr/>
          <p:nvPr/>
        </p:nvSpPr>
        <p:spPr>
          <a:xfrm>
            <a:off x="731520" y="2980944"/>
            <a:ext cx="3931920" cy="0"/>
          </a:xfrm>
          <a:prstGeom prst="line">
            <a:avLst/>
          </a:prstGeom>
          <a:noFill/>
          <a:ln w="36576">
            <a:solidFill>
              <a:srgbClr val="BEEAD9"/>
            </a:solidFill>
            <a:prstDash val="solid"/>
          </a:ln>
        </p:spPr>
      </p:sp>
      <p:sp>
        <p:nvSpPr>
          <p:cNvPr id="13" name="Text 11"/>
          <p:cNvSpPr/>
          <p:nvPr/>
        </p:nvSpPr>
        <p:spPr>
          <a:xfrm>
            <a:off x="731520" y="3282696"/>
            <a:ext cx="1097280" cy="737006"/>
          </a:xfrm>
          <a:prstGeom prst="rect">
            <a:avLst/>
          </a:prstGeom>
          <a:noFill/>
          <a:ln/>
        </p:spPr>
        <p:txBody>
          <a:bodyPr wrap="none" lIns="0" tIns="0" rIns="0" bIns="0" rtlCol="0" anchor="t"/>
          <a:lstStyle/>
          <a:p>
            <a:pPr algn="l" indent="0" marL="0">
              <a:buNone/>
            </a:pPr>
            <a:r>
              <a:rPr lang="es-PE" altLang="en-US" sz="4680" b="1" dirty="0">
                <a:solidFill>
                  <a:srgbClr val="BEEAD9"/>
                </a:solidFill>
                <a:latin typeface="Arial" pitchFamily="34" charset="0"/>
                <a:ea typeface="Arial" pitchFamily="34" charset="-122"/>
                <a:cs typeface="Arial" pitchFamily="34" charset="-120"/>
              </a:rPr>
              <a:t>01</a:t>
            </a:r>
            <a:endParaRPr lang="es-PE" sz="4680" dirty="0"/>
          </a:p>
        </p:txBody>
      </p:sp>
      <p:sp>
        <p:nvSpPr>
          <p:cNvPr id="14" name="Text 12"/>
          <p:cNvSpPr/>
          <p:nvPr/>
        </p:nvSpPr>
        <p:spPr>
          <a:xfrm>
            <a:off x="731520" y="4142232"/>
            <a:ext cx="3977640" cy="351495"/>
          </a:xfrm>
          <a:prstGeom prst="rect">
            <a:avLst/>
          </a:prstGeom>
          <a:noFill/>
          <a:ln/>
        </p:spPr>
        <p:txBody>
          <a:bodyPr wrap="none" lIns="0" tIns="0" rIns="0" bIns="0" rtlCol="0" anchor="t"/>
          <a:lstStyle/>
          <a:p>
            <a:pPr algn="l" indent="0" marL="0">
              <a:buNone/>
            </a:pPr>
            <a:r>
              <a:rPr lang="es-PE" altLang="en-US" sz="2232" b="1" dirty="0">
                <a:solidFill>
                  <a:srgbClr val="F8F4ED"/>
                </a:solidFill>
                <a:latin typeface="Arial" pitchFamily="34" charset="0"/>
                <a:ea typeface="Arial" pitchFamily="34" charset="-122"/>
                <a:cs typeface="Arial" pitchFamily="34" charset="-120"/>
              </a:rPr>
              <a:t>Aporte verificable</a:t>
            </a:r>
            <a:endParaRPr lang="es-PE" sz="2232" dirty="0"/>
          </a:p>
        </p:txBody>
      </p:sp>
      <p:sp>
        <p:nvSpPr>
          <p:cNvPr id="15" name="Text 13"/>
          <p:cNvSpPr/>
          <p:nvPr/>
        </p:nvSpPr>
        <p:spPr>
          <a:xfrm>
            <a:off x="731520" y="4709160"/>
            <a:ext cx="3977640" cy="306141"/>
          </a:xfrm>
          <a:prstGeom prst="rect">
            <a:avLst/>
          </a:prstGeom>
          <a:noFill/>
          <a:ln/>
        </p:spPr>
        <p:txBody>
          <a:bodyPr wrap="none" lIns="0" tIns="0" rIns="0" bIns="0" rtlCol="0" anchor="t"/>
          <a:lstStyle/>
          <a:p>
            <a:pPr algn="l" indent="0" marL="0">
              <a:buNone/>
            </a:pPr>
            <a:r>
              <a:rPr lang="es-PE" altLang="en-US" sz="1944" dirty="0">
                <a:solidFill>
                  <a:srgbClr val="D8C9F1"/>
                </a:solidFill>
                <a:latin typeface="Arial" pitchFamily="34" charset="0"/>
                <a:ea typeface="Arial" pitchFamily="34" charset="-122"/>
                <a:cs typeface="Arial" pitchFamily="34" charset="-120"/>
              </a:rPr>
              <a:t>Asignación, coste y</a:t>
            </a:r>
            <a:endParaRPr lang="es-PE" sz="1944" dirty="0"/>
          </a:p>
        </p:txBody>
      </p:sp>
      <p:sp>
        <p:nvSpPr>
          <p:cNvPr id="16" name="Text 14"/>
          <p:cNvSpPr/>
          <p:nvPr/>
        </p:nvSpPr>
        <p:spPr>
          <a:xfrm>
            <a:off x="731520" y="5030114"/>
            <a:ext cx="3977640" cy="306141"/>
          </a:xfrm>
          <a:prstGeom prst="rect">
            <a:avLst/>
          </a:prstGeom>
          <a:noFill/>
          <a:ln/>
        </p:spPr>
        <p:txBody>
          <a:bodyPr wrap="none" lIns="0" tIns="0" rIns="0" bIns="0" rtlCol="0" anchor="t"/>
          <a:lstStyle/>
          <a:p>
            <a:pPr algn="l" indent="0" marL="0">
              <a:buNone/>
            </a:pPr>
            <a:r>
              <a:rPr lang="es-PE" altLang="en-US" sz="1944" dirty="0">
                <a:solidFill>
                  <a:srgbClr val="D8C9F1"/>
                </a:solidFill>
                <a:latin typeface="Arial" pitchFamily="34" charset="0"/>
                <a:ea typeface="Arial" pitchFamily="34" charset="-122"/>
                <a:cs typeface="Arial" pitchFamily="34" charset="-120"/>
              </a:rPr>
              <a:t>comparación clásica.</a:t>
            </a:r>
            <a:endParaRPr lang="es-PE" sz="1944" dirty="0"/>
          </a:p>
        </p:txBody>
      </p:sp>
      <p:sp>
        <p:nvSpPr>
          <p:cNvPr id="17" name="Shape 15"/>
          <p:cNvSpPr/>
          <p:nvPr/>
        </p:nvSpPr>
        <p:spPr>
          <a:xfrm>
            <a:off x="5349240" y="2980944"/>
            <a:ext cx="3931920" cy="0"/>
          </a:xfrm>
          <a:prstGeom prst="line">
            <a:avLst/>
          </a:prstGeom>
          <a:noFill/>
          <a:ln w="36576">
            <a:solidFill>
              <a:srgbClr val="D8C9F1"/>
            </a:solidFill>
            <a:prstDash val="solid"/>
          </a:ln>
        </p:spPr>
      </p:sp>
      <p:sp>
        <p:nvSpPr>
          <p:cNvPr id="18" name="Text 16"/>
          <p:cNvSpPr/>
          <p:nvPr/>
        </p:nvSpPr>
        <p:spPr>
          <a:xfrm>
            <a:off x="5349240" y="3282696"/>
            <a:ext cx="1097280" cy="737006"/>
          </a:xfrm>
          <a:prstGeom prst="rect">
            <a:avLst/>
          </a:prstGeom>
          <a:noFill/>
          <a:ln/>
        </p:spPr>
        <p:txBody>
          <a:bodyPr wrap="none" lIns="0" tIns="0" rIns="0" bIns="0" rtlCol="0" anchor="t"/>
          <a:lstStyle/>
          <a:p>
            <a:pPr algn="l" indent="0" marL="0">
              <a:buNone/>
            </a:pPr>
            <a:r>
              <a:rPr lang="es-PE" altLang="en-US" sz="4680" b="1" dirty="0">
                <a:solidFill>
                  <a:srgbClr val="D8C9F1"/>
                </a:solidFill>
                <a:latin typeface="Arial" pitchFamily="34" charset="0"/>
                <a:ea typeface="Arial" pitchFamily="34" charset="-122"/>
                <a:cs typeface="Arial" pitchFamily="34" charset="-120"/>
              </a:rPr>
              <a:t>02</a:t>
            </a:r>
            <a:endParaRPr lang="es-PE" sz="4680" dirty="0"/>
          </a:p>
        </p:txBody>
      </p:sp>
      <p:sp>
        <p:nvSpPr>
          <p:cNvPr id="19" name="Text 17"/>
          <p:cNvSpPr/>
          <p:nvPr/>
        </p:nvSpPr>
        <p:spPr>
          <a:xfrm>
            <a:off x="5349240" y="4142232"/>
            <a:ext cx="3977640" cy="351495"/>
          </a:xfrm>
          <a:prstGeom prst="rect">
            <a:avLst/>
          </a:prstGeom>
          <a:noFill/>
          <a:ln/>
        </p:spPr>
        <p:txBody>
          <a:bodyPr wrap="none" lIns="0" tIns="0" rIns="0" bIns="0" rtlCol="0" anchor="t"/>
          <a:lstStyle/>
          <a:p>
            <a:pPr algn="l" indent="0" marL="0">
              <a:buNone/>
            </a:pPr>
            <a:r>
              <a:rPr lang="es-PE" altLang="en-US" sz="2232" b="1" dirty="0">
                <a:solidFill>
                  <a:srgbClr val="F8F4ED"/>
                </a:solidFill>
                <a:latin typeface="Arial" pitchFamily="34" charset="0"/>
                <a:ea typeface="Arial" pitchFamily="34" charset="-122"/>
                <a:cs typeface="Arial" pitchFamily="34" charset="-120"/>
              </a:rPr>
              <a:t>Reoptimizar</a:t>
            </a:r>
            <a:endParaRPr lang="es-PE" sz="2232" dirty="0"/>
          </a:p>
        </p:txBody>
      </p:sp>
      <p:sp>
        <p:nvSpPr>
          <p:cNvPr id="20" name="Text 18"/>
          <p:cNvSpPr/>
          <p:nvPr/>
        </p:nvSpPr>
        <p:spPr>
          <a:xfrm>
            <a:off x="5349240" y="4709160"/>
            <a:ext cx="3977640" cy="306141"/>
          </a:xfrm>
          <a:prstGeom prst="rect">
            <a:avLst/>
          </a:prstGeom>
          <a:noFill/>
          <a:ln/>
        </p:spPr>
        <p:txBody>
          <a:bodyPr wrap="none" lIns="0" tIns="0" rIns="0" bIns="0" rtlCol="0" anchor="t"/>
          <a:lstStyle/>
          <a:p>
            <a:pPr algn="l" indent="0" marL="0">
              <a:buNone/>
            </a:pPr>
            <a:r>
              <a:rPr lang="es-PE" altLang="en-US" sz="1944" dirty="0">
                <a:solidFill>
                  <a:srgbClr val="D8C9F1"/>
                </a:solidFill>
                <a:latin typeface="Arial" pitchFamily="34" charset="0"/>
                <a:ea typeface="Arial" pitchFamily="34" charset="-122"/>
                <a:cs typeface="Arial" pitchFamily="34" charset="-120"/>
              </a:rPr>
              <a:t>Actualizar la decisión</a:t>
            </a:r>
            <a:endParaRPr lang="es-PE" sz="1944" dirty="0"/>
          </a:p>
        </p:txBody>
      </p:sp>
      <p:sp>
        <p:nvSpPr>
          <p:cNvPr id="21" name="Text 19"/>
          <p:cNvSpPr/>
          <p:nvPr/>
        </p:nvSpPr>
        <p:spPr>
          <a:xfrm>
            <a:off x="5349240" y="5030114"/>
            <a:ext cx="3977640" cy="306141"/>
          </a:xfrm>
          <a:prstGeom prst="rect">
            <a:avLst/>
          </a:prstGeom>
          <a:noFill/>
          <a:ln/>
        </p:spPr>
        <p:txBody>
          <a:bodyPr wrap="none" lIns="0" tIns="0" rIns="0" bIns="0" rtlCol="0" anchor="t"/>
          <a:lstStyle/>
          <a:p>
            <a:pPr algn="l" indent="0" marL="0">
              <a:buNone/>
            </a:pPr>
            <a:r>
              <a:rPr lang="es-PE" altLang="en-US" sz="1944" dirty="0">
                <a:solidFill>
                  <a:srgbClr val="D8C9F1"/>
                </a:solidFill>
                <a:latin typeface="Arial" pitchFamily="34" charset="0"/>
                <a:ea typeface="Arial" pitchFamily="34" charset="-122"/>
                <a:cs typeface="Arial" pitchFamily="34" charset="-120"/>
              </a:rPr>
              <a:t>si cambian rutas o demanda.</a:t>
            </a:r>
            <a:endParaRPr lang="es-PE" sz="1944" dirty="0"/>
          </a:p>
        </p:txBody>
      </p:sp>
      <p:sp>
        <p:nvSpPr>
          <p:cNvPr id="22" name="Shape 20"/>
          <p:cNvSpPr/>
          <p:nvPr/>
        </p:nvSpPr>
        <p:spPr>
          <a:xfrm>
            <a:off x="9966960" y="2980944"/>
            <a:ext cx="3931920" cy="0"/>
          </a:xfrm>
          <a:prstGeom prst="line">
            <a:avLst/>
          </a:prstGeom>
          <a:noFill/>
          <a:ln w="36576">
            <a:solidFill>
              <a:srgbClr val="EDA18D"/>
            </a:solidFill>
            <a:prstDash val="solid"/>
          </a:ln>
        </p:spPr>
      </p:sp>
      <p:sp>
        <p:nvSpPr>
          <p:cNvPr id="23" name="Text 21"/>
          <p:cNvSpPr/>
          <p:nvPr/>
        </p:nvSpPr>
        <p:spPr>
          <a:xfrm>
            <a:off x="9966960" y="3282696"/>
            <a:ext cx="1097280" cy="737006"/>
          </a:xfrm>
          <a:prstGeom prst="rect">
            <a:avLst/>
          </a:prstGeom>
          <a:noFill/>
          <a:ln/>
        </p:spPr>
        <p:txBody>
          <a:bodyPr wrap="none" lIns="0" tIns="0" rIns="0" bIns="0" rtlCol="0" anchor="t"/>
          <a:lstStyle/>
          <a:p>
            <a:pPr algn="l" indent="0" marL="0">
              <a:buNone/>
            </a:pPr>
            <a:r>
              <a:rPr lang="es-PE" altLang="en-US" sz="4680" b="1" dirty="0">
                <a:solidFill>
                  <a:srgbClr val="EDA18D"/>
                </a:solidFill>
                <a:latin typeface="Arial" pitchFamily="34" charset="0"/>
                <a:ea typeface="Arial" pitchFamily="34" charset="-122"/>
                <a:cs typeface="Arial" pitchFamily="34" charset="-120"/>
              </a:rPr>
              <a:t>03</a:t>
            </a:r>
            <a:endParaRPr lang="es-PE" sz="4680" dirty="0"/>
          </a:p>
        </p:txBody>
      </p:sp>
      <p:sp>
        <p:nvSpPr>
          <p:cNvPr id="24" name="Text 22"/>
          <p:cNvSpPr/>
          <p:nvPr/>
        </p:nvSpPr>
        <p:spPr>
          <a:xfrm>
            <a:off x="9966960" y="4142232"/>
            <a:ext cx="3977640" cy="351495"/>
          </a:xfrm>
          <a:prstGeom prst="rect">
            <a:avLst/>
          </a:prstGeom>
          <a:noFill/>
          <a:ln/>
        </p:spPr>
        <p:txBody>
          <a:bodyPr wrap="none" lIns="0" tIns="0" rIns="0" bIns="0" rtlCol="0" anchor="t"/>
          <a:lstStyle/>
          <a:p>
            <a:pPr algn="l" indent="0" marL="0">
              <a:buNone/>
            </a:pPr>
            <a:r>
              <a:rPr lang="es-PE" altLang="en-US" sz="2232" b="1" dirty="0">
                <a:solidFill>
                  <a:srgbClr val="F8F4ED"/>
                </a:solidFill>
                <a:latin typeface="Arial" pitchFamily="34" charset="0"/>
                <a:ea typeface="Arial" pitchFamily="34" charset="-122"/>
                <a:cs typeface="Arial" pitchFamily="34" charset="-120"/>
              </a:rPr>
              <a:t>Potencial cuántico</a:t>
            </a:r>
            <a:endParaRPr lang="es-PE" sz="2232" dirty="0"/>
          </a:p>
        </p:txBody>
      </p:sp>
      <p:sp>
        <p:nvSpPr>
          <p:cNvPr id="25" name="Text 23"/>
          <p:cNvSpPr/>
          <p:nvPr/>
        </p:nvSpPr>
        <p:spPr>
          <a:xfrm>
            <a:off x="9966960" y="4709160"/>
            <a:ext cx="3977640" cy="306141"/>
          </a:xfrm>
          <a:prstGeom prst="rect">
            <a:avLst/>
          </a:prstGeom>
          <a:noFill/>
          <a:ln/>
        </p:spPr>
        <p:txBody>
          <a:bodyPr wrap="none" lIns="0" tIns="0" rIns="0" bIns="0" rtlCol="0" anchor="t"/>
          <a:lstStyle/>
          <a:p>
            <a:pPr algn="l" indent="0" marL="0">
              <a:buNone/>
            </a:pPr>
            <a:r>
              <a:rPr lang="es-PE" altLang="en-US" sz="1944" dirty="0">
                <a:solidFill>
                  <a:srgbClr val="D8C9F1"/>
                </a:solidFill>
                <a:latin typeface="Arial" pitchFamily="34" charset="0"/>
                <a:ea typeface="Arial" pitchFamily="34" charset="-122"/>
                <a:cs typeface="Arial" pitchFamily="34" charset="-120"/>
              </a:rPr>
              <a:t>Explorar menos consultas</a:t>
            </a:r>
            <a:endParaRPr lang="es-PE" sz="1944" dirty="0"/>
          </a:p>
        </p:txBody>
      </p:sp>
      <p:sp>
        <p:nvSpPr>
          <p:cNvPr id="26" name="Text 24"/>
          <p:cNvSpPr/>
          <p:nvPr/>
        </p:nvSpPr>
        <p:spPr>
          <a:xfrm>
            <a:off x="9966960" y="5030114"/>
            <a:ext cx="3977640" cy="306141"/>
          </a:xfrm>
          <a:prstGeom prst="rect">
            <a:avLst/>
          </a:prstGeom>
          <a:noFill/>
          <a:ln/>
        </p:spPr>
        <p:txBody>
          <a:bodyPr wrap="none" lIns="0" tIns="0" rIns="0" bIns="0" rtlCol="0" anchor="t"/>
          <a:lstStyle/>
          <a:p>
            <a:pPr algn="l" indent="0" marL="0">
              <a:buNone/>
            </a:pPr>
            <a:r>
              <a:rPr lang="es-PE" altLang="en-US" sz="1944" dirty="0">
                <a:solidFill>
                  <a:srgbClr val="D8C9F1"/>
                </a:solidFill>
                <a:latin typeface="Arial" pitchFamily="34" charset="0"/>
                <a:ea typeface="Arial" pitchFamily="34" charset="-122"/>
                <a:cs typeface="Arial" pitchFamily="34" charset="-120"/>
              </a:rPr>
              <a:t>a un oráculo eficiente.</a:t>
            </a:r>
            <a:endParaRPr lang="es-PE" sz="1944" dirty="0"/>
          </a:p>
        </p:txBody>
      </p:sp>
      <p:sp>
        <p:nvSpPr>
          <p:cNvPr id="27" name="Shape 25"/>
          <p:cNvSpPr/>
          <p:nvPr/>
        </p:nvSpPr>
        <p:spPr>
          <a:xfrm>
            <a:off x="731520" y="5760720"/>
            <a:ext cx="13167360" cy="0"/>
          </a:xfrm>
          <a:prstGeom prst="line">
            <a:avLst/>
          </a:prstGeom>
          <a:noFill/>
          <a:ln w="13716">
            <a:solidFill>
              <a:srgbClr val="544366"/>
            </a:solidFill>
            <a:prstDash val="solid"/>
          </a:ln>
        </p:spPr>
      </p:sp>
      <p:sp>
        <p:nvSpPr>
          <p:cNvPr id="28" name="Text 26"/>
          <p:cNvSpPr/>
          <p:nvPr/>
        </p:nvSpPr>
        <p:spPr>
          <a:xfrm>
            <a:off x="731520" y="6080760"/>
            <a:ext cx="10149840" cy="555589"/>
          </a:xfrm>
          <a:prstGeom prst="rect">
            <a:avLst/>
          </a:prstGeom>
          <a:noFill/>
          <a:ln/>
        </p:spPr>
        <p:txBody>
          <a:bodyPr wrap="none" lIns="0" tIns="0" rIns="0" bIns="0" rtlCol="0" anchor="t"/>
          <a:lstStyle/>
          <a:p>
            <a:pPr algn="l" indent="0" marL="0">
              <a:buNone/>
            </a:pPr>
            <a:r>
              <a:rPr lang="es-PE" altLang="en-US" sz="3528" b="1" dirty="0">
                <a:solidFill>
                  <a:srgbClr val="F8F4ED"/>
                </a:solidFill>
                <a:latin typeface="Arial" pitchFamily="34" charset="0"/>
                <a:ea typeface="Arial" pitchFamily="34" charset="-122"/>
                <a:cs typeface="Arial" pitchFamily="34" charset="-120"/>
              </a:rPr>
              <a:t>Mejor coordinación,</a:t>
            </a:r>
            <a:endParaRPr lang="es-PE" sz="3528" dirty="0"/>
          </a:p>
        </p:txBody>
      </p:sp>
      <p:sp>
        <p:nvSpPr>
          <p:cNvPr id="29" name="Text 27"/>
          <p:cNvSpPr/>
          <p:nvPr/>
        </p:nvSpPr>
        <p:spPr>
          <a:xfrm>
            <a:off x="731520" y="6582583"/>
            <a:ext cx="10149840" cy="555589"/>
          </a:xfrm>
          <a:prstGeom prst="rect">
            <a:avLst/>
          </a:prstGeom>
          <a:noFill/>
          <a:ln/>
        </p:spPr>
        <p:txBody>
          <a:bodyPr wrap="none" lIns="0" tIns="0" rIns="0" bIns="0" rtlCol="0" anchor="t"/>
          <a:lstStyle/>
          <a:p>
            <a:pPr algn="l" indent="0" marL="0">
              <a:buNone/>
            </a:pPr>
            <a:r>
              <a:rPr lang="es-PE" altLang="en-US" sz="3528" b="1" dirty="0">
                <a:solidFill>
                  <a:srgbClr val="F8F4ED"/>
                </a:solidFill>
                <a:latin typeface="Arial" pitchFamily="34" charset="0"/>
                <a:ea typeface="Arial" pitchFamily="34" charset="-122"/>
                <a:cs typeface="Arial" pitchFamily="34" charset="-120"/>
              </a:rPr>
              <a:t>cuando más importa.</a:t>
            </a:r>
            <a:endParaRPr lang="es-PE" sz="3528" dirty="0"/>
          </a:p>
        </p:txBody>
      </p:sp>
      <p:sp>
        <p:nvSpPr>
          <p:cNvPr id="30" name="Text 28"/>
          <p:cNvSpPr/>
          <p:nvPr/>
        </p:nvSpPr>
        <p:spPr>
          <a:xfrm>
            <a:off x="11338560" y="6318504"/>
            <a:ext cx="2560320" cy="317480"/>
          </a:xfrm>
          <a:prstGeom prst="rect">
            <a:avLst/>
          </a:prstGeom>
          <a:noFill/>
          <a:ln/>
        </p:spPr>
        <p:txBody>
          <a:bodyPr wrap="none" lIns="0" tIns="0" rIns="0" bIns="0" rtlCol="0" anchor="t"/>
          <a:lstStyle/>
          <a:p>
            <a:pPr algn="r" indent="0" marL="0">
              <a:buNone/>
            </a:pPr>
            <a:r>
              <a:rPr lang="es-PE" altLang="en-US" sz="2016" b="1" dirty="0">
                <a:solidFill>
                  <a:srgbClr val="BEEAD9"/>
                </a:solidFill>
                <a:latin typeface="Arial" pitchFamily="34" charset="0"/>
                <a:ea typeface="Arial" pitchFamily="34" charset="-122"/>
                <a:cs typeface="Arial" pitchFamily="34" charset="-120"/>
              </a:rPr>
              <a:t>QUANTUM</a:t>
            </a:r>
            <a:endParaRPr lang="es-PE" sz="2016" dirty="0"/>
          </a:p>
        </p:txBody>
      </p:sp>
      <p:sp>
        <p:nvSpPr>
          <p:cNvPr id="31" name="Text 29"/>
          <p:cNvSpPr/>
          <p:nvPr/>
        </p:nvSpPr>
        <p:spPr>
          <a:xfrm>
            <a:off x="11338560" y="6612941"/>
            <a:ext cx="2560320" cy="317480"/>
          </a:xfrm>
          <a:prstGeom prst="rect">
            <a:avLst/>
          </a:prstGeom>
          <a:noFill/>
          <a:ln/>
        </p:spPr>
        <p:txBody>
          <a:bodyPr wrap="none" lIns="0" tIns="0" rIns="0" bIns="0" rtlCol="0" anchor="t"/>
          <a:lstStyle/>
          <a:p>
            <a:pPr algn="r" indent="0" marL="0">
              <a:buNone/>
            </a:pPr>
            <a:r>
              <a:rPr lang="es-PE" altLang="en-US" sz="2016" b="1" dirty="0">
                <a:solidFill>
                  <a:srgbClr val="BEEAD9"/>
                </a:solidFill>
                <a:latin typeface="Arial" pitchFamily="34" charset="0"/>
                <a:ea typeface="Arial" pitchFamily="34" charset="-122"/>
                <a:cs typeface="Arial" pitchFamily="34" charset="-120"/>
              </a:rPr>
              <a:t>ACTION</a:t>
            </a:r>
            <a:endParaRPr lang="es-PE" sz="2016"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Quantum Action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Q-Niño · Pitch para la final</dc:title>
  <dc:subject>Pitch final de cuatro minutos con evidencia SENAMHI</dc:subject>
  <dc:creator>Quantum Action</dc:creator>
  <cp:lastModifiedBy>Quantum Action</cp:lastModifiedBy>
  <cp:revision>1</cp:revision>
  <dcterms:created xsi:type="dcterms:W3CDTF">2026-10-25T15:26:49Z</dcterms:created>
  <dcterms:modified xsi:type="dcterms:W3CDTF">2026-10-25T15:26:49Z</dcterms:modified>
</cp:coreProperties>
</file>